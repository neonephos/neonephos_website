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327" r:id="rId2"/>
    <p:sldId id="323" r:id="rId3"/>
    <p:sldId id="267" r:id="rId4"/>
    <p:sldId id="289" r:id="rId5"/>
    <p:sldId id="271" r:id="rId6"/>
    <p:sldId id="304" r:id="rId7"/>
    <p:sldId id="328" r:id="rId8"/>
    <p:sldId id="298" r:id="rId9"/>
    <p:sldId id="307" r:id="rId10"/>
    <p:sldId id="3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DDE9F8"/>
    <a:srgbClr val="A6CAEE"/>
    <a:srgbClr val="A6CAED"/>
    <a:srgbClr val="A6CAEC"/>
    <a:srgbClr val="DCEAF7"/>
    <a:srgbClr val="4E95D9"/>
    <a:srgbClr val="F6FBFF"/>
    <a:srgbClr val="4F95D9"/>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066"/>
    <p:restoredTop sz="94767"/>
  </p:normalViewPr>
  <p:slideViewPr>
    <p:cSldViewPr snapToGrid="0">
      <p:cViewPr>
        <p:scale>
          <a:sx n="139" d="100"/>
          <a:sy n="139" d="100"/>
        </p:scale>
        <p:origin x="72"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10/12/26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CD46-FF84-D880-B767-A16441608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3B71-49A4-ACC5-19D6-75A2F7AA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02F-4B08-D1B2-909E-4CC7A7579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BBA32E-D5B5-AE40-1CB1-461DB98EFE51}"/>
              </a:ext>
            </a:extLst>
          </p:cNvPr>
          <p:cNvSpPr>
            <a:spLocks noGrp="1"/>
          </p:cNvSpPr>
          <p:nvPr>
            <p:ph type="sldNum" sz="quarter" idx="5"/>
          </p:nvPr>
        </p:nvSpPr>
        <p:spPr/>
        <p:txBody>
          <a:bodyPr/>
          <a:lstStyle/>
          <a:p>
            <a:fld id="{C2C7977E-D206-0644-9C2D-F055898E797E}" type="slidenum">
              <a:rPr lang="en-US" smtClean="0"/>
              <a:t>4</a:t>
            </a:fld>
            <a:endParaRPr lang="en-US"/>
          </a:p>
        </p:txBody>
      </p:sp>
    </p:spTree>
    <p:extLst>
      <p:ext uri="{BB962C8B-B14F-4D97-AF65-F5344CB8AC3E}">
        <p14:creationId xmlns:p14="http://schemas.microsoft.com/office/powerpoint/2010/main" val="412380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8</a:t>
            </a:fld>
            <a:endParaRPr lang="en-US"/>
          </a:p>
        </p:txBody>
      </p:sp>
    </p:spTree>
    <p:extLst>
      <p:ext uri="{BB962C8B-B14F-4D97-AF65-F5344CB8AC3E}">
        <p14:creationId xmlns:p14="http://schemas.microsoft.com/office/powerpoint/2010/main" val="334295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ACB59-3023-7C2B-2FA9-87309718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1AF6-A6B4-BAF4-F804-28338EC5D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9B2C6-AA83-47DC-FA68-59E9189775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6AC5F5-ABEB-4917-D48C-E152DDA468E2}"/>
              </a:ext>
            </a:extLst>
          </p:cNvPr>
          <p:cNvSpPr>
            <a:spLocks noGrp="1"/>
          </p:cNvSpPr>
          <p:nvPr>
            <p:ph type="sldNum" sz="quarter" idx="5"/>
          </p:nvPr>
        </p:nvSpPr>
        <p:spPr/>
        <p:txBody>
          <a:bodyPr/>
          <a:lstStyle/>
          <a:p>
            <a:fld id="{C2C7977E-D206-0644-9C2D-F055898E797E}" type="slidenum">
              <a:rPr lang="en-US" smtClean="0"/>
              <a:t>9</a:t>
            </a:fld>
            <a:endParaRPr lang="en-US"/>
          </a:p>
        </p:txBody>
      </p:sp>
    </p:spTree>
    <p:extLst>
      <p:ext uri="{BB962C8B-B14F-4D97-AF65-F5344CB8AC3E}">
        <p14:creationId xmlns:p14="http://schemas.microsoft.com/office/powerpoint/2010/main" val="813237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2"/>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3"/>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0" y="2766218"/>
            <a:ext cx="12192000" cy="1325563"/>
          </a:xfrm>
        </p:spPr>
        <p:txBody>
          <a:bodyPr/>
          <a:lstStyle>
            <a:lvl1pPr algn="ctr">
              <a:defRPr sz="4500" b="1">
                <a:solidFill>
                  <a:schemeClr val="tx1"/>
                </a:solidFill>
              </a:defRPr>
            </a:lvl1pPr>
          </a:lstStyle>
          <a:p>
            <a:r>
              <a:rPr lang="en-US" dirty="0"/>
              <a:t>Header</a:t>
            </a:r>
          </a:p>
        </p:txBody>
      </p:sp>
      <p:pic>
        <p:nvPicPr>
          <p:cNvPr id="13" name="Picture 12">
            <a:extLst>
              <a:ext uri="{FF2B5EF4-FFF2-40B4-BE49-F238E27FC236}">
                <a16:creationId xmlns:a16="http://schemas.microsoft.com/office/drawing/2014/main" id="{1BEBDAEE-DF6C-1A40-7449-6211232D98D5}"/>
              </a:ext>
            </a:extLst>
          </p:cNvPr>
          <p:cNvPicPr>
            <a:picLocks noChangeAspect="1"/>
          </p:cNvPicPr>
          <p:nvPr userDrawn="1"/>
        </p:nvPicPr>
        <p:blipFill>
          <a:blip r:embed="rId2"/>
          <a:stretch>
            <a:fillRect/>
          </a:stretch>
        </p:blipFill>
        <p:spPr>
          <a:xfrm>
            <a:off x="3456016" y="596850"/>
            <a:ext cx="5279967" cy="1024302"/>
          </a:xfrm>
          <a:prstGeom prst="rect">
            <a:avLst/>
          </a:prstGeom>
        </p:spPr>
      </p:pic>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Mission_Slide">
    <p:spTree>
      <p:nvGrpSpPr>
        <p:cNvPr id="1" name="Shape 71"/>
        <p:cNvGrpSpPr/>
        <p:nvPr/>
      </p:nvGrpSpPr>
      <p:grpSpPr>
        <a:xfrm>
          <a:off x="0" y="0"/>
          <a:ext cx="0" cy="0"/>
          <a:chOff x="0" y="0"/>
          <a:chExt cx="0" cy="0"/>
        </a:xfrm>
      </p:grpSpPr>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pPr algn="ctr"/>
            <a:r>
              <a:rPr lang="en-US" sz="2500" b="1" dirty="0" err="1">
                <a:solidFill>
                  <a:schemeClr val="tx1"/>
                </a:solidFill>
              </a:rPr>
              <a:t>NeoNephos</a:t>
            </a:r>
            <a:r>
              <a:rPr lang="en-US" sz="2500" b="1" dirty="0">
                <a:solidFill>
                  <a:schemeClr val="tx1"/>
                </a:solidFill>
              </a:rPr>
              <a:t> is building a community-driven, </a:t>
            </a:r>
          </a:p>
          <a:p>
            <a:pPr algn="ctr"/>
            <a:r>
              <a:rPr lang="en-US" sz="2500" b="1" dirty="0">
                <a:solidFill>
                  <a:schemeClr val="tx1"/>
                </a:solidFill>
              </a:rPr>
              <a:t>open cloud-native stack to strengthen European digital sovereignty</a:t>
            </a:r>
          </a:p>
          <a:p>
            <a:pPr algn="ctr"/>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1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8.svg"/><Relationship Id="rId12" Type="http://schemas.openxmlformats.org/officeDocument/2006/relationships/image" Target="../media/image13.svg"/><Relationship Id="rId17" Type="http://schemas.openxmlformats.org/officeDocument/2006/relationships/image" Target="../media/image18.svg"/><Relationship Id="rId2" Type="http://schemas.openxmlformats.org/officeDocument/2006/relationships/notesSlide" Target="../notesSlides/notesSlide2.xml"/><Relationship Id="rId16" Type="http://schemas.openxmlformats.org/officeDocument/2006/relationships/image" Target="../media/image17.svg"/><Relationship Id="rId20"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3.png"/><Relationship Id="rId15" Type="http://schemas.openxmlformats.org/officeDocument/2006/relationships/image" Target="../media/image16.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sv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Community-driven </a:t>
            </a:r>
            <a:endParaRPr lang="en-US" sz="4000" dirty="0"/>
          </a:p>
          <a:p>
            <a:pPr algn="ctr"/>
            <a:r>
              <a:rPr lang="en-US" sz="4000" b="1" dirty="0"/>
              <a:t>open cloud-native stack</a:t>
            </a:r>
            <a:endParaRPr lang="en-US" sz="4000" dirty="0"/>
          </a:p>
          <a:p>
            <a:pPr algn="ctr"/>
            <a:r>
              <a:rPr lang="en-US" sz="4000" b="1" dirty="0"/>
              <a:t> for European sovereignty.</a:t>
            </a:r>
            <a:endParaRPr lang="en-US" sz="4000" dirty="0"/>
          </a:p>
        </p:txBody>
      </p:sp>
      <p:pic>
        <p:nvPicPr>
          <p:cNvPr id="4" name="Picture 3" descr="A blue flag with yellow stars and a black eagle&#10;&#10;AI-generated content may be incorrect.">
            <a:extLst>
              <a:ext uri="{FF2B5EF4-FFF2-40B4-BE49-F238E27FC236}">
                <a16:creationId xmlns:a16="http://schemas.microsoft.com/office/drawing/2014/main" id="{DA716207-B538-8BA0-E13F-7CC7BEE05977}"/>
              </a:ext>
            </a:extLst>
          </p:cNvPr>
          <p:cNvPicPr>
            <a:picLocks noChangeAspect="1"/>
          </p:cNvPicPr>
          <p:nvPr/>
        </p:nvPicPr>
        <p:blipFill>
          <a:blip r:embed="rId2"/>
          <a:stretch>
            <a:fillRect/>
          </a:stretch>
        </p:blipFill>
        <p:spPr>
          <a:xfrm>
            <a:off x="5151307" y="5680586"/>
            <a:ext cx="1889385" cy="1064225"/>
          </a:xfrm>
          <a:prstGeom prst="rect">
            <a:avLst/>
          </a:prstGeom>
        </p:spPr>
      </p:pic>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3"/>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66DFED-358A-1128-2D93-9EDB37D2FB3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78FC5D01-34AB-9F4D-5B5B-1F95AE9B80CC}"/>
              </a:ext>
            </a:extLst>
          </p:cNvPr>
          <p:cNvGrpSpPr/>
          <p:nvPr/>
        </p:nvGrpSpPr>
        <p:grpSpPr>
          <a:xfrm>
            <a:off x="1655908" y="2706413"/>
            <a:ext cx="8882934" cy="2518121"/>
            <a:chOff x="2552317" y="2548152"/>
            <a:chExt cx="7026405" cy="1991835"/>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2A0C09A4-3B6B-EDEC-29DA-103B78D4BED3}"/>
                </a:ext>
              </a:extLst>
            </p:cNvPr>
            <p:cNvSpPr/>
            <p:nvPr/>
          </p:nvSpPr>
          <p:spPr>
            <a:xfrm>
              <a:off x="4052995" y="3306114"/>
              <a:ext cx="4026134" cy="12338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E14CD04-8145-3E17-790D-6975A10D2E2C}"/>
                </a:ext>
              </a:extLst>
            </p:cNvPr>
            <p:cNvSpPr/>
            <p:nvPr/>
          </p:nvSpPr>
          <p:spPr>
            <a:xfrm>
              <a:off x="2552317" y="2548152"/>
              <a:ext cx="7026405" cy="65499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rapezoid 66">
              <a:extLst>
                <a:ext uri="{FF2B5EF4-FFF2-40B4-BE49-F238E27FC236}">
                  <a16:creationId xmlns:a16="http://schemas.microsoft.com/office/drawing/2014/main" id="{C2ABA8E1-1A9F-84DE-8B87-9D72538F9FB3}"/>
                </a:ext>
              </a:extLst>
            </p:cNvPr>
            <p:cNvSpPr/>
            <p:nvPr/>
          </p:nvSpPr>
          <p:spPr>
            <a:xfrm rot="10800000">
              <a:off x="3691669" y="3136568"/>
              <a:ext cx="4726214" cy="183847"/>
            </a:xfrm>
            <a:prstGeom prst="trapezoid">
              <a:avLst>
                <a:gd name="adj" fmla="val 206265"/>
              </a:avLst>
            </a:prstGeom>
            <a:gradFill flip="none" rotWithShape="1">
              <a:gsLst>
                <a:gs pos="10000">
                  <a:srgbClr val="DDEBF8"/>
                </a:gs>
                <a:gs pos="100000">
                  <a:srgbClr val="F2F2F2"/>
                </a:gs>
              </a:gsLst>
              <a:lin ang="162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C6908AE3-D639-E690-4D9D-AEF56C8EC749}"/>
              </a:ext>
            </a:extLst>
          </p:cNvPr>
          <p:cNvSpPr/>
          <p:nvPr/>
        </p:nvSpPr>
        <p:spPr>
          <a:xfrm>
            <a:off x="524655" y="1586715"/>
            <a:ext cx="11437496" cy="842962"/>
          </a:xfrm>
          <a:prstGeom prst="rect">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FE6F95AB-9A6C-16F0-6F65-53FFC39FAA5F}"/>
              </a:ext>
            </a:extLst>
          </p:cNvPr>
          <p:cNvGrpSpPr/>
          <p:nvPr/>
        </p:nvGrpSpPr>
        <p:grpSpPr>
          <a:xfrm>
            <a:off x="524655" y="672315"/>
            <a:ext cx="11437495" cy="976764"/>
            <a:chOff x="524655" y="514054"/>
            <a:chExt cx="11437495" cy="976764"/>
          </a:xfrm>
          <a:effectLst>
            <a:outerShdw blurRad="50800" dist="38100" dir="2700000" algn="tl" rotWithShape="0">
              <a:prstClr val="black">
                <a:alpha val="40000"/>
              </a:prstClr>
            </a:outerShdw>
          </a:effectLst>
        </p:grpSpPr>
        <p:sp>
          <p:nvSpPr>
            <p:cNvPr id="11" name="Rectangle 10">
              <a:extLst>
                <a:ext uri="{FF2B5EF4-FFF2-40B4-BE49-F238E27FC236}">
                  <a16:creationId xmlns:a16="http://schemas.microsoft.com/office/drawing/2014/main" id="{B82F93F3-5D54-3A8C-4946-FBF944F1D691}"/>
                </a:ext>
              </a:extLst>
            </p:cNvPr>
            <p:cNvSpPr/>
            <p:nvPr/>
          </p:nvSpPr>
          <p:spPr>
            <a:xfrm>
              <a:off x="524655" y="514054"/>
              <a:ext cx="11437495" cy="842962"/>
            </a:xfrm>
            <a:prstGeom prst="rect">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riangle 62">
              <a:extLst>
                <a:ext uri="{FF2B5EF4-FFF2-40B4-BE49-F238E27FC236}">
                  <a16:creationId xmlns:a16="http://schemas.microsoft.com/office/drawing/2014/main" id="{507C2975-8C3C-0FB7-F556-B531AF03E7F7}"/>
                </a:ext>
              </a:extLst>
            </p:cNvPr>
            <p:cNvSpPr/>
            <p:nvPr/>
          </p:nvSpPr>
          <p:spPr>
            <a:xfrm rot="10800000">
              <a:off x="5341322" y="1241120"/>
              <a:ext cx="1509356" cy="249698"/>
            </a:xfrm>
            <a:prstGeom prst="triangl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Graphic 18">
            <a:extLst>
              <a:ext uri="{FF2B5EF4-FFF2-40B4-BE49-F238E27FC236}">
                <a16:creationId xmlns:a16="http://schemas.microsoft.com/office/drawing/2014/main" id="{ED5EA8E8-45AA-168B-CF66-97D5EFC448E3}"/>
              </a:ext>
            </a:extLst>
          </p:cNvPr>
          <p:cNvPicPr>
            <a:picLocks noChangeAspect="1"/>
          </p:cNvPicPr>
          <p:nvPr/>
        </p:nvPicPr>
        <p:blipFill>
          <a:blip r:embed="rId3"/>
          <a:srcRect/>
          <a:stretch/>
        </p:blipFill>
        <p:spPr>
          <a:xfrm>
            <a:off x="5021839" y="2903822"/>
            <a:ext cx="2153920" cy="421271"/>
          </a:xfrm>
          <a:prstGeom prst="rect">
            <a:avLst/>
          </a:prstGeom>
        </p:spPr>
      </p:pic>
      <p:sp>
        <p:nvSpPr>
          <p:cNvPr id="24" name="TextBox 23">
            <a:extLst>
              <a:ext uri="{FF2B5EF4-FFF2-40B4-BE49-F238E27FC236}">
                <a16:creationId xmlns:a16="http://schemas.microsoft.com/office/drawing/2014/main" id="{FFB67BAB-812E-D921-D672-8B51859CD7DB}"/>
              </a:ext>
            </a:extLst>
          </p:cNvPr>
          <p:cNvSpPr txBox="1"/>
          <p:nvPr/>
        </p:nvSpPr>
        <p:spPr>
          <a:xfrm>
            <a:off x="2681981" y="779897"/>
            <a:ext cx="2657475" cy="630942"/>
          </a:xfrm>
          <a:prstGeom prst="rect">
            <a:avLst/>
          </a:prstGeom>
          <a:noFill/>
        </p:spPr>
        <p:txBody>
          <a:bodyPr wrap="square">
            <a:spAutoFit/>
          </a:bodyPr>
          <a:lstStyle/>
          <a:p>
            <a:pPr>
              <a:buNone/>
            </a:pPr>
            <a:r>
              <a:rPr lang="en-US" sz="3500" b="1" dirty="0">
                <a:effectLst/>
                <a:latin typeface="Aptos" panose="020B0004020202020204" pitchFamily="34" charset="0"/>
              </a:rPr>
              <a:t>IPCEI-CIS</a:t>
            </a:r>
            <a:endParaRPr lang="en-US" sz="3500" dirty="0">
              <a:effectLst/>
              <a:latin typeface="Aptos" panose="020B0004020202020204" pitchFamily="34" charset="0"/>
            </a:endParaRPr>
          </a:p>
        </p:txBody>
      </p:sp>
      <p:sp>
        <p:nvSpPr>
          <p:cNvPr id="25" name="TextBox 24">
            <a:extLst>
              <a:ext uri="{FF2B5EF4-FFF2-40B4-BE49-F238E27FC236}">
                <a16:creationId xmlns:a16="http://schemas.microsoft.com/office/drawing/2014/main" id="{345669BA-F8F4-6ABF-8D1C-C0CF0B7D3060}"/>
              </a:ext>
            </a:extLst>
          </p:cNvPr>
          <p:cNvSpPr txBox="1"/>
          <p:nvPr/>
        </p:nvSpPr>
        <p:spPr>
          <a:xfrm>
            <a:off x="4949611" y="735611"/>
            <a:ext cx="3468273" cy="707886"/>
          </a:xfrm>
          <a:prstGeom prst="rect">
            <a:avLst/>
          </a:prstGeom>
          <a:noFill/>
        </p:spPr>
        <p:txBody>
          <a:bodyPr wrap="square">
            <a:spAutoFit/>
          </a:bodyPr>
          <a:lstStyle/>
          <a:p>
            <a:pPr>
              <a:buNone/>
            </a:pPr>
            <a:r>
              <a:rPr lang="en-US" sz="2000" dirty="0">
                <a:effectLst/>
                <a:latin typeface="Aptos" panose="020B0004020202020204" pitchFamily="34" charset="0"/>
              </a:rPr>
              <a:t>Important Projects of Common European Interest</a:t>
            </a:r>
          </a:p>
        </p:txBody>
      </p:sp>
      <p:pic>
        <p:nvPicPr>
          <p:cNvPr id="61" name="Picture 60" descr="A blue flag with yellow stars and a black eagle&#10;&#10;AI-generated content may be incorrect.">
            <a:extLst>
              <a:ext uri="{FF2B5EF4-FFF2-40B4-BE49-F238E27FC236}">
                <a16:creationId xmlns:a16="http://schemas.microsoft.com/office/drawing/2014/main" id="{F49B874B-3875-4AEA-82EC-192629541DCD}"/>
              </a:ext>
            </a:extLst>
          </p:cNvPr>
          <p:cNvPicPr>
            <a:picLocks noChangeAspect="1"/>
          </p:cNvPicPr>
          <p:nvPr/>
        </p:nvPicPr>
        <p:blipFill>
          <a:blip r:embed="rId4"/>
          <a:stretch>
            <a:fillRect/>
          </a:stretch>
        </p:blipFill>
        <p:spPr>
          <a:xfrm>
            <a:off x="8487698" y="811476"/>
            <a:ext cx="987378" cy="556156"/>
          </a:xfrm>
          <a:prstGeom prst="rect">
            <a:avLst/>
          </a:prstGeom>
        </p:spPr>
      </p:pic>
      <p:sp>
        <p:nvSpPr>
          <p:cNvPr id="62" name="TextBox 61">
            <a:extLst>
              <a:ext uri="{FF2B5EF4-FFF2-40B4-BE49-F238E27FC236}">
                <a16:creationId xmlns:a16="http://schemas.microsoft.com/office/drawing/2014/main" id="{340905C1-8834-86D8-0BCD-F0E868C9D906}"/>
              </a:ext>
            </a:extLst>
          </p:cNvPr>
          <p:cNvSpPr txBox="1"/>
          <p:nvPr/>
        </p:nvSpPr>
        <p:spPr>
          <a:xfrm>
            <a:off x="5146830" y="1660293"/>
            <a:ext cx="5444582" cy="707886"/>
          </a:xfrm>
          <a:prstGeom prst="rect">
            <a:avLst/>
          </a:prstGeom>
          <a:noFill/>
        </p:spPr>
        <p:txBody>
          <a:bodyPr wrap="square">
            <a:spAutoFit/>
          </a:bodyPr>
          <a:lstStyle/>
          <a:p>
            <a:r>
              <a:rPr lang="en-US" sz="2000" dirty="0"/>
              <a:t>Initiative for Europe’s Next Generation </a:t>
            </a:r>
          </a:p>
          <a:p>
            <a:r>
              <a:rPr lang="en-US" sz="2000" dirty="0"/>
              <a:t>Cloud Infrastructure and Services</a:t>
            </a:r>
          </a:p>
        </p:txBody>
      </p:sp>
      <p:sp>
        <p:nvSpPr>
          <p:cNvPr id="4" name="TextBox 3">
            <a:extLst>
              <a:ext uri="{FF2B5EF4-FFF2-40B4-BE49-F238E27FC236}">
                <a16:creationId xmlns:a16="http://schemas.microsoft.com/office/drawing/2014/main" id="{DE1D78F9-5E25-016C-07CC-70352BDE2067}"/>
              </a:ext>
            </a:extLst>
          </p:cNvPr>
          <p:cNvSpPr txBox="1"/>
          <p:nvPr/>
        </p:nvSpPr>
        <p:spPr>
          <a:xfrm rot="16200000">
            <a:off x="-1076606" y="3638641"/>
            <a:ext cx="2740898" cy="430887"/>
          </a:xfrm>
          <a:prstGeom prst="rect">
            <a:avLst/>
          </a:prstGeom>
          <a:noFill/>
        </p:spPr>
        <p:txBody>
          <a:bodyPr wrap="square">
            <a:spAutoFit/>
          </a:bodyPr>
          <a:lstStyle/>
          <a:p>
            <a:pPr algn="r">
              <a:buNone/>
            </a:pPr>
            <a:r>
              <a:rPr lang="en-US" sz="2200" b="1" dirty="0">
                <a:gradFill>
                  <a:gsLst>
                    <a:gs pos="0">
                      <a:srgbClr val="0D5DDF"/>
                    </a:gs>
                    <a:gs pos="100000">
                      <a:schemeClr val="tx1">
                        <a:lumMod val="95000"/>
                        <a:lumOff val="5000"/>
                      </a:schemeClr>
                    </a:gs>
                  </a:gsLst>
                  <a:lin ang="5400000" scaled="1"/>
                </a:gradFill>
                <a:effectLst/>
                <a:latin typeface="Aptos" panose="020B0004020202020204" pitchFamily="34" charset="0"/>
              </a:rPr>
              <a:t>OSS </a:t>
            </a:r>
            <a:r>
              <a:rPr lang="en-US" sz="2200" b="1" dirty="0">
                <a:gradFill>
                  <a:gsLst>
                    <a:gs pos="0">
                      <a:srgbClr val="0D5DDF"/>
                    </a:gs>
                    <a:gs pos="100000">
                      <a:schemeClr val="tx1">
                        <a:lumMod val="95000"/>
                        <a:lumOff val="5000"/>
                      </a:schemeClr>
                    </a:gs>
                  </a:gsLst>
                  <a:lin ang="3600000" scaled="0"/>
                </a:gradFill>
                <a:effectLst/>
                <a:latin typeface="Aptos" panose="020B0004020202020204" pitchFamily="34" charset="0"/>
              </a:rPr>
              <a:t>Foundation</a:t>
            </a:r>
            <a:endParaRPr lang="en-US" sz="2200" dirty="0">
              <a:gradFill>
                <a:gsLst>
                  <a:gs pos="0">
                    <a:srgbClr val="0D5DDF"/>
                  </a:gs>
                  <a:gs pos="100000">
                    <a:schemeClr val="tx1">
                      <a:lumMod val="95000"/>
                      <a:lumOff val="5000"/>
                    </a:schemeClr>
                  </a:gs>
                </a:gsLst>
                <a:lin ang="3600000" scaled="0"/>
              </a:gradFill>
              <a:effectLst/>
              <a:latin typeface="Aptos" panose="020B0004020202020204" pitchFamily="34" charset="0"/>
            </a:endParaRPr>
          </a:p>
        </p:txBody>
      </p:sp>
      <p:sp>
        <p:nvSpPr>
          <p:cNvPr id="27" name="TextBox 26">
            <a:extLst>
              <a:ext uri="{FF2B5EF4-FFF2-40B4-BE49-F238E27FC236}">
                <a16:creationId xmlns:a16="http://schemas.microsoft.com/office/drawing/2014/main" id="{C22AB0AC-74BB-7245-C2B6-2D47B85705D4}"/>
              </a:ext>
            </a:extLst>
          </p:cNvPr>
          <p:cNvSpPr txBox="1"/>
          <p:nvPr/>
        </p:nvSpPr>
        <p:spPr>
          <a:xfrm rot="16200000">
            <a:off x="-619063" y="1372906"/>
            <a:ext cx="1832069" cy="430887"/>
          </a:xfrm>
          <a:prstGeom prst="rect">
            <a:avLst/>
          </a:prstGeom>
          <a:noFill/>
        </p:spPr>
        <p:txBody>
          <a:bodyPr wrap="square">
            <a:spAutoFit/>
          </a:bodyPr>
          <a:lstStyle/>
          <a:p>
            <a:pPr algn="r">
              <a:buNone/>
            </a:pPr>
            <a:r>
              <a:rPr lang="en-US" sz="2200" b="1" dirty="0">
                <a:gradFill>
                  <a:gsLst>
                    <a:gs pos="0">
                      <a:srgbClr val="0D5DDF"/>
                    </a:gs>
                    <a:gs pos="73000">
                      <a:schemeClr val="tx1">
                        <a:lumMod val="95000"/>
                        <a:lumOff val="5000"/>
                      </a:schemeClr>
                    </a:gs>
                  </a:gsLst>
                  <a:lin ang="1800000" scaled="0"/>
                </a:gradFill>
                <a:effectLst/>
                <a:latin typeface="Aptos" panose="020B0004020202020204" pitchFamily="34" charset="0"/>
              </a:rPr>
              <a:t>Institutional</a:t>
            </a:r>
            <a:endParaRPr lang="en-US" sz="2200" dirty="0">
              <a:gradFill>
                <a:gsLst>
                  <a:gs pos="0">
                    <a:srgbClr val="0D5DDF"/>
                  </a:gs>
                  <a:gs pos="73000">
                    <a:schemeClr val="tx1">
                      <a:lumMod val="95000"/>
                      <a:lumOff val="5000"/>
                    </a:schemeClr>
                  </a:gs>
                </a:gsLst>
                <a:lin ang="1800000" scaled="0"/>
              </a:gradFill>
              <a:effectLst/>
              <a:latin typeface="Aptos" panose="020B0004020202020204" pitchFamily="34" charset="0"/>
            </a:endParaRPr>
          </a:p>
        </p:txBody>
      </p:sp>
      <p:sp>
        <p:nvSpPr>
          <p:cNvPr id="57" name="Triangle 56">
            <a:extLst>
              <a:ext uri="{FF2B5EF4-FFF2-40B4-BE49-F238E27FC236}">
                <a16:creationId xmlns:a16="http://schemas.microsoft.com/office/drawing/2014/main" id="{651EF970-EB00-4593-3D48-B2F21CECD53D}"/>
              </a:ext>
            </a:extLst>
          </p:cNvPr>
          <p:cNvSpPr/>
          <p:nvPr/>
        </p:nvSpPr>
        <p:spPr>
          <a:xfrm>
            <a:off x="5339456" y="5186988"/>
            <a:ext cx="1509356" cy="24969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CEE16E8-1134-4DCF-73CB-049770CEB3E0}"/>
              </a:ext>
            </a:extLst>
          </p:cNvPr>
          <p:cNvSpPr/>
          <p:nvPr/>
        </p:nvSpPr>
        <p:spPr>
          <a:xfrm>
            <a:off x="1471705" y="5369784"/>
            <a:ext cx="9411448" cy="842962"/>
          </a:xfrm>
          <a:prstGeom prst="rect">
            <a:avLst/>
          </a:prstGeom>
          <a:solidFill>
            <a:srgbClr val="A6CA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53E158C-9371-A75C-C4C5-6F398A9DCB91}"/>
              </a:ext>
            </a:extLst>
          </p:cNvPr>
          <p:cNvPicPr>
            <a:picLocks noChangeAspect="1"/>
          </p:cNvPicPr>
          <p:nvPr/>
        </p:nvPicPr>
        <p:blipFill>
          <a:blip r:embed="rId5"/>
          <a:stretch>
            <a:fillRect/>
          </a:stretch>
        </p:blipFill>
        <p:spPr>
          <a:xfrm>
            <a:off x="3952779" y="4064554"/>
            <a:ext cx="4329828" cy="839977"/>
          </a:xfrm>
          <a:prstGeom prst="rect">
            <a:avLst/>
          </a:prstGeom>
        </p:spPr>
      </p:pic>
      <p:pic>
        <p:nvPicPr>
          <p:cNvPr id="3" name="Graphic 2">
            <a:extLst>
              <a:ext uri="{FF2B5EF4-FFF2-40B4-BE49-F238E27FC236}">
                <a16:creationId xmlns:a16="http://schemas.microsoft.com/office/drawing/2014/main" id="{6B51C8B2-E77B-ECEA-9983-558CE06A0A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3495" y="5528231"/>
            <a:ext cx="550914" cy="550914"/>
          </a:xfrm>
          <a:prstGeom prst="rect">
            <a:avLst/>
          </a:prstGeom>
        </p:spPr>
      </p:pic>
      <p:pic>
        <p:nvPicPr>
          <p:cNvPr id="6" name="Graphic 5">
            <a:extLst>
              <a:ext uri="{FF2B5EF4-FFF2-40B4-BE49-F238E27FC236}">
                <a16:creationId xmlns:a16="http://schemas.microsoft.com/office/drawing/2014/main" id="{83ED0736-8AD3-2B66-BA12-CCB0544BA76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11171" y="5484185"/>
            <a:ext cx="712123" cy="619449"/>
          </a:xfrm>
          <a:prstGeom prst="rect">
            <a:avLst/>
          </a:prstGeom>
        </p:spPr>
      </p:pic>
      <p:pic>
        <p:nvPicPr>
          <p:cNvPr id="12" name="Graphic 11">
            <a:extLst>
              <a:ext uri="{FF2B5EF4-FFF2-40B4-BE49-F238E27FC236}">
                <a16:creationId xmlns:a16="http://schemas.microsoft.com/office/drawing/2014/main" id="{F9742A06-C156-CCFD-18E8-C9F7D7803A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88350" y="5282387"/>
            <a:ext cx="990600" cy="990600"/>
          </a:xfrm>
          <a:prstGeom prst="rect">
            <a:avLst/>
          </a:prstGeom>
        </p:spPr>
      </p:pic>
      <p:pic>
        <p:nvPicPr>
          <p:cNvPr id="13" name="Graphic 12">
            <a:extLst>
              <a:ext uri="{FF2B5EF4-FFF2-40B4-BE49-F238E27FC236}">
                <a16:creationId xmlns:a16="http://schemas.microsoft.com/office/drawing/2014/main" id="{E5AD1F0F-0E5C-D323-F86E-7C53DEEB4D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74960" y="5500514"/>
            <a:ext cx="590718" cy="556224"/>
          </a:xfrm>
          <a:prstGeom prst="rect">
            <a:avLst/>
          </a:prstGeom>
        </p:spPr>
      </p:pic>
      <p:pic>
        <p:nvPicPr>
          <p:cNvPr id="14" name="Graphic 13">
            <a:extLst>
              <a:ext uri="{FF2B5EF4-FFF2-40B4-BE49-F238E27FC236}">
                <a16:creationId xmlns:a16="http://schemas.microsoft.com/office/drawing/2014/main" id="{330B3BDC-67B5-2410-D600-7E92DAB2A3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34742" y="5477188"/>
            <a:ext cx="595908" cy="595908"/>
          </a:xfrm>
          <a:prstGeom prst="rect">
            <a:avLst/>
          </a:prstGeom>
        </p:spPr>
      </p:pic>
      <p:pic>
        <p:nvPicPr>
          <p:cNvPr id="16" name="Graphic 15">
            <a:extLst>
              <a:ext uri="{FF2B5EF4-FFF2-40B4-BE49-F238E27FC236}">
                <a16:creationId xmlns:a16="http://schemas.microsoft.com/office/drawing/2014/main" id="{573E51A4-89CF-F4D3-0EC5-322C0511138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19680" y="5431553"/>
            <a:ext cx="678563" cy="678563"/>
          </a:xfrm>
          <a:prstGeom prst="rect">
            <a:avLst/>
          </a:prstGeom>
        </p:spPr>
      </p:pic>
      <p:pic>
        <p:nvPicPr>
          <p:cNvPr id="17" name="Graphic 16">
            <a:extLst>
              <a:ext uri="{FF2B5EF4-FFF2-40B4-BE49-F238E27FC236}">
                <a16:creationId xmlns:a16="http://schemas.microsoft.com/office/drawing/2014/main" id="{04F65039-411F-9408-BEA8-C763EE69C0D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180312" y="5516755"/>
            <a:ext cx="539983" cy="539983"/>
          </a:xfrm>
          <a:prstGeom prst="rect">
            <a:avLst/>
          </a:prstGeom>
        </p:spPr>
      </p:pic>
      <p:pic>
        <p:nvPicPr>
          <p:cNvPr id="18" name="Graphic 17">
            <a:extLst>
              <a:ext uri="{FF2B5EF4-FFF2-40B4-BE49-F238E27FC236}">
                <a16:creationId xmlns:a16="http://schemas.microsoft.com/office/drawing/2014/main" id="{2F5882EA-926C-D3F6-D6A3-63786E91CA2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77986" y="5512673"/>
            <a:ext cx="595908" cy="586879"/>
          </a:xfrm>
          <a:prstGeom prst="rect">
            <a:avLst/>
          </a:prstGeom>
        </p:spPr>
      </p:pic>
      <p:pic>
        <p:nvPicPr>
          <p:cNvPr id="20" name="Graphic 19">
            <a:extLst>
              <a:ext uri="{FF2B5EF4-FFF2-40B4-BE49-F238E27FC236}">
                <a16:creationId xmlns:a16="http://schemas.microsoft.com/office/drawing/2014/main" id="{EC4E1D3C-9284-65C3-C515-C605BFB453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756364" y="5516022"/>
            <a:ext cx="595908" cy="583530"/>
          </a:xfrm>
          <a:prstGeom prst="rect">
            <a:avLst/>
          </a:prstGeom>
        </p:spPr>
      </p:pic>
      <p:pic>
        <p:nvPicPr>
          <p:cNvPr id="21" name="Graphic 20">
            <a:extLst>
              <a:ext uri="{FF2B5EF4-FFF2-40B4-BE49-F238E27FC236}">
                <a16:creationId xmlns:a16="http://schemas.microsoft.com/office/drawing/2014/main" id="{D301A683-E1E5-124D-EE95-5EBAC4AC0CA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572631" y="5532980"/>
            <a:ext cx="482009" cy="503229"/>
          </a:xfrm>
          <a:prstGeom prst="rect">
            <a:avLst/>
          </a:prstGeom>
        </p:spPr>
      </p:pic>
      <p:pic>
        <p:nvPicPr>
          <p:cNvPr id="22" name="Graphic 21">
            <a:extLst>
              <a:ext uri="{FF2B5EF4-FFF2-40B4-BE49-F238E27FC236}">
                <a16:creationId xmlns:a16="http://schemas.microsoft.com/office/drawing/2014/main" id="{8372C8ED-A896-0656-5EB2-049B5E64E88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436946" y="5493181"/>
            <a:ext cx="595908" cy="595908"/>
          </a:xfrm>
          <a:prstGeom prst="rect">
            <a:avLst/>
          </a:prstGeom>
        </p:spPr>
      </p:pic>
      <p:pic>
        <p:nvPicPr>
          <p:cNvPr id="23" name="Graphic 22">
            <a:extLst>
              <a:ext uri="{FF2B5EF4-FFF2-40B4-BE49-F238E27FC236}">
                <a16:creationId xmlns:a16="http://schemas.microsoft.com/office/drawing/2014/main" id="{836E978F-24A8-EB2F-96EC-FB7E10A9D58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893904" y="5516023"/>
            <a:ext cx="524068" cy="525246"/>
          </a:xfrm>
          <a:prstGeom prst="rect">
            <a:avLst/>
          </a:prstGeom>
        </p:spPr>
      </p:pic>
      <p:pic>
        <p:nvPicPr>
          <p:cNvPr id="29" name="Graphic 28">
            <a:extLst>
              <a:ext uri="{FF2B5EF4-FFF2-40B4-BE49-F238E27FC236}">
                <a16:creationId xmlns:a16="http://schemas.microsoft.com/office/drawing/2014/main" id="{DE5ACD65-B8AB-D538-9565-2C8D097D79C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166167" y="5482939"/>
            <a:ext cx="507148" cy="728888"/>
          </a:xfrm>
          <a:prstGeom prst="rect">
            <a:avLst/>
          </a:prstGeom>
        </p:spPr>
      </p:pic>
      <p:sp>
        <p:nvSpPr>
          <p:cNvPr id="32" name="Rectangle 31">
            <a:extLst>
              <a:ext uri="{FF2B5EF4-FFF2-40B4-BE49-F238E27FC236}">
                <a16:creationId xmlns:a16="http://schemas.microsoft.com/office/drawing/2014/main" id="{2EA1FDBB-F61D-046F-7373-E43CC2E4EA81}"/>
              </a:ext>
            </a:extLst>
          </p:cNvPr>
          <p:cNvSpPr/>
          <p:nvPr/>
        </p:nvSpPr>
        <p:spPr>
          <a:xfrm>
            <a:off x="2070282" y="6087007"/>
            <a:ext cx="640472" cy="119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descr="A logo with blue and purple letters&#10;&#10;AI-generated content may be incorrect.">
            <a:extLst>
              <a:ext uri="{FF2B5EF4-FFF2-40B4-BE49-F238E27FC236}">
                <a16:creationId xmlns:a16="http://schemas.microsoft.com/office/drawing/2014/main" id="{7929779D-54A6-861C-558B-B62C069B4560}"/>
              </a:ext>
            </a:extLst>
          </p:cNvPr>
          <p:cNvPicPr>
            <a:picLocks noChangeAspect="1"/>
          </p:cNvPicPr>
          <p:nvPr/>
        </p:nvPicPr>
        <p:blipFill>
          <a:blip r:embed="rId19">
            <a:clrChange>
              <a:clrFrom>
                <a:srgbClr val="FFFFFF"/>
              </a:clrFrom>
              <a:clrTo>
                <a:srgbClr val="FFFFFF">
                  <a:alpha val="0"/>
                </a:srgbClr>
              </a:clrTo>
            </a:clrChange>
          </a:blip>
          <a:stretch>
            <a:fillRect/>
          </a:stretch>
        </p:blipFill>
        <p:spPr>
          <a:xfrm>
            <a:off x="2774098" y="1498236"/>
            <a:ext cx="2357362" cy="970004"/>
          </a:xfrm>
          <a:prstGeom prst="rect">
            <a:avLst/>
          </a:prstGeom>
        </p:spPr>
      </p:pic>
      <p:pic>
        <p:nvPicPr>
          <p:cNvPr id="7" name="Picture 6">
            <a:extLst>
              <a:ext uri="{FF2B5EF4-FFF2-40B4-BE49-F238E27FC236}">
                <a16:creationId xmlns:a16="http://schemas.microsoft.com/office/drawing/2014/main" id="{476F4B94-267C-2D9C-CE32-508A0B7BDF1E}"/>
              </a:ext>
            </a:extLst>
          </p:cNvPr>
          <p:cNvPicPr>
            <a:picLocks noChangeAspect="1"/>
          </p:cNvPicPr>
          <p:nvPr/>
        </p:nvPicPr>
        <p:blipFill>
          <a:blip r:embed="rId20"/>
          <a:stretch>
            <a:fillRect/>
          </a:stretch>
        </p:blipFill>
        <p:spPr>
          <a:xfrm>
            <a:off x="1597518" y="5484184"/>
            <a:ext cx="466613" cy="605837"/>
          </a:xfrm>
          <a:prstGeom prst="rect">
            <a:avLst/>
          </a:prstGeom>
        </p:spPr>
      </p:pic>
    </p:spTree>
    <p:extLst>
      <p:ext uri="{BB962C8B-B14F-4D97-AF65-F5344CB8AC3E}">
        <p14:creationId xmlns:p14="http://schemas.microsoft.com/office/powerpoint/2010/main" val="20829285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707886"/>
          </a:xfrm>
          <a:prstGeom prst="rect">
            <a:avLst/>
          </a:prstGeom>
          <a:noFill/>
        </p:spPr>
        <p:txBody>
          <a:bodyPr wrap="square">
            <a:spAutoFit/>
          </a:bodyPr>
          <a:lstStyle/>
          <a:p>
            <a:pPr algn="ctr">
              <a:buNone/>
            </a:pPr>
            <a:r>
              <a:rPr lang="en-US" sz="4000" b="1" dirty="0">
                <a:effectLst/>
                <a:latin typeface="Aptos" panose="020B0004020202020204" pitchFamily="34" charset="0"/>
              </a:rPr>
              <a:t>100% Open Source</a:t>
            </a:r>
            <a:endParaRPr lang="en-US" sz="4000" dirty="0">
              <a:effectLst/>
              <a:latin typeface="Aptos" panose="020B0004020202020204" pitchFamily="34" charset="0"/>
            </a:endParaRPr>
          </a:p>
        </p:txBody>
      </p:sp>
      <p:pic>
        <p:nvPicPr>
          <p:cNvPr id="6" name="Picture 5" descr="A blue flag with yellow stars and a black eagle&#10;&#10;AI-generated content may be incorrect.">
            <a:extLst>
              <a:ext uri="{FF2B5EF4-FFF2-40B4-BE49-F238E27FC236}">
                <a16:creationId xmlns:a16="http://schemas.microsoft.com/office/drawing/2014/main" id="{7A0AAB57-5075-DF96-164A-7939A85A6F39}"/>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3393366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6A19-B8D4-FB3B-082A-7F4B43D438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5081F38-7CC1-1BBC-9CAF-D41509DA9FBA}"/>
              </a:ext>
            </a:extLst>
          </p:cNvPr>
          <p:cNvSpPr txBox="1"/>
          <p:nvPr/>
        </p:nvSpPr>
        <p:spPr>
          <a:xfrm>
            <a:off x="1398899" y="2767280"/>
            <a:ext cx="9394201" cy="1323439"/>
          </a:xfrm>
          <a:prstGeom prst="rect">
            <a:avLst/>
          </a:prstGeom>
          <a:noFill/>
        </p:spPr>
        <p:txBody>
          <a:bodyPr wrap="square">
            <a:spAutoFit/>
          </a:bodyPr>
          <a:lstStyle/>
          <a:p>
            <a:pPr algn="ctr">
              <a:buNone/>
            </a:pPr>
            <a:r>
              <a:rPr lang="en-US" sz="4000" b="1" dirty="0">
                <a:effectLst/>
                <a:latin typeface="Aptos" panose="020B0004020202020204" pitchFamily="34" charset="0"/>
              </a:rPr>
              <a:t>Reference architecture </a:t>
            </a:r>
          </a:p>
          <a:p>
            <a:pPr algn="ctr">
              <a:buNone/>
            </a:pPr>
            <a:r>
              <a:rPr lang="en-US" sz="4000" b="1" dirty="0">
                <a:effectLst/>
                <a:latin typeface="Aptos" panose="020B0004020202020204" pitchFamily="34" charset="0"/>
              </a:rPr>
              <a:t>for an interoperable cloud</a:t>
            </a:r>
            <a:endParaRPr lang="en-US" sz="4000" dirty="0">
              <a:effectLst/>
              <a:latin typeface="Aptos" panose="020B0004020202020204" pitchFamily="34" charset="0"/>
            </a:endParaRPr>
          </a:p>
        </p:txBody>
      </p:sp>
      <p:pic>
        <p:nvPicPr>
          <p:cNvPr id="7" name="Picture 6" descr="A blue flag with yellow stars and a black eagle&#10;&#10;AI-generated content may be incorrect.">
            <a:extLst>
              <a:ext uri="{FF2B5EF4-FFF2-40B4-BE49-F238E27FC236}">
                <a16:creationId xmlns:a16="http://schemas.microsoft.com/office/drawing/2014/main" id="{6A2D3709-8407-A392-46E1-751F427AA5B4}"/>
              </a:ext>
            </a:extLst>
          </p:cNvPr>
          <p:cNvPicPr>
            <a:picLocks noChangeAspect="1"/>
          </p:cNvPicPr>
          <p:nvPr/>
        </p:nvPicPr>
        <p:blipFill>
          <a:blip r:embed="rId2"/>
          <a:stretch>
            <a:fillRect/>
          </a:stretch>
        </p:blipFill>
        <p:spPr>
          <a:xfrm>
            <a:off x="10652546" y="5737572"/>
            <a:ext cx="1256754" cy="707886"/>
          </a:xfrm>
          <a:prstGeom prst="rect">
            <a:avLst/>
          </a:prstGeom>
        </p:spPr>
      </p:pic>
    </p:spTree>
    <p:extLst>
      <p:ext uri="{BB962C8B-B14F-4D97-AF65-F5344CB8AC3E}">
        <p14:creationId xmlns:p14="http://schemas.microsoft.com/office/powerpoint/2010/main" val="8006243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F249-C84C-0698-71C4-B8C79AE2ABDC}"/>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E5234BB4-AE9B-FC86-EAA7-90FF5BD6550C}"/>
              </a:ext>
            </a:extLst>
          </p:cNvPr>
          <p:cNvSpPr/>
          <p:nvPr/>
        </p:nvSpPr>
        <p:spPr>
          <a:xfrm>
            <a:off x="6390290" y="1492339"/>
            <a:ext cx="4729967" cy="4645650"/>
          </a:xfrm>
          <a:prstGeom prst="roundRect">
            <a:avLst>
              <a:gd name="adj" fmla="val 1577"/>
            </a:avLst>
          </a:prstGeom>
          <a:solidFill>
            <a:srgbClr val="A6CAE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1C32D80-F2A8-14FA-CB8E-67B459AA05C4}"/>
              </a:ext>
            </a:extLst>
          </p:cNvPr>
          <p:cNvGrpSpPr/>
          <p:nvPr/>
        </p:nvGrpSpPr>
        <p:grpSpPr>
          <a:xfrm>
            <a:off x="1030014" y="1492339"/>
            <a:ext cx="5429279" cy="4645650"/>
            <a:chOff x="1030014" y="1403131"/>
            <a:chExt cx="5429279" cy="4645650"/>
          </a:xfrm>
          <a:effectLst>
            <a:outerShdw blurRad="50800" dist="38100" dir="2700000" algn="tl" rotWithShape="0">
              <a:prstClr val="black">
                <a:alpha val="40000"/>
              </a:prstClr>
            </a:outerShdw>
          </a:effectLst>
        </p:grpSpPr>
        <p:sp>
          <p:nvSpPr>
            <p:cNvPr id="6" name="Rounded Rectangle 5">
              <a:extLst>
                <a:ext uri="{FF2B5EF4-FFF2-40B4-BE49-F238E27FC236}">
                  <a16:creationId xmlns:a16="http://schemas.microsoft.com/office/drawing/2014/main" id="{1AFD86A7-015E-A339-793B-C2E6103A14A2}"/>
                </a:ext>
              </a:extLst>
            </p:cNvPr>
            <p:cNvSpPr/>
            <p:nvPr/>
          </p:nvSpPr>
          <p:spPr>
            <a:xfrm>
              <a:off x="1030014" y="1403131"/>
              <a:ext cx="4729967" cy="4645650"/>
            </a:xfrm>
            <a:prstGeom prst="roundRect">
              <a:avLst>
                <a:gd name="adj" fmla="val 1577"/>
              </a:avLst>
            </a:prstGeom>
            <a:solidFill>
              <a:srgbClr val="DDE9F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riangle 12">
              <a:extLst>
                <a:ext uri="{FF2B5EF4-FFF2-40B4-BE49-F238E27FC236}">
                  <a16:creationId xmlns:a16="http://schemas.microsoft.com/office/drawing/2014/main" id="{46341E45-BBB1-D6A7-0F04-2CCBF9F7A9F4}"/>
                </a:ext>
              </a:extLst>
            </p:cNvPr>
            <p:cNvSpPr/>
            <p:nvPr/>
          </p:nvSpPr>
          <p:spPr>
            <a:xfrm rot="5400000">
              <a:off x="4404818" y="3331014"/>
              <a:ext cx="3386576" cy="722374"/>
            </a:xfrm>
            <a:prstGeom prst="triangl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4A5C85B-F8A0-8C71-39B8-0342A25242D3}"/>
              </a:ext>
            </a:extLst>
          </p:cNvPr>
          <p:cNvSpPr txBox="1"/>
          <p:nvPr/>
        </p:nvSpPr>
        <p:spPr>
          <a:xfrm>
            <a:off x="6390289" y="1623820"/>
            <a:ext cx="4729968" cy="477054"/>
          </a:xfrm>
          <a:prstGeom prst="rect">
            <a:avLst/>
          </a:prstGeom>
          <a:noFill/>
        </p:spPr>
        <p:txBody>
          <a:bodyPr wrap="square">
            <a:spAutoFit/>
          </a:bodyPr>
          <a:lstStyle/>
          <a:p>
            <a:pPr algn="ctr">
              <a:buNone/>
            </a:pPr>
            <a:r>
              <a:rPr lang="en-US" sz="2500" dirty="0">
                <a:effectLst/>
                <a:latin typeface="Aptos" panose="020B0004020202020204" pitchFamily="34" charset="0"/>
              </a:rPr>
              <a:t>8RA Next Generation</a:t>
            </a:r>
          </a:p>
        </p:txBody>
      </p:sp>
      <p:sp>
        <p:nvSpPr>
          <p:cNvPr id="3" name="Rectangle 2">
            <a:extLst>
              <a:ext uri="{FF2B5EF4-FFF2-40B4-BE49-F238E27FC236}">
                <a16:creationId xmlns:a16="http://schemas.microsoft.com/office/drawing/2014/main" id="{4BB559EE-58DA-3A17-B06F-3E191C868E99}"/>
              </a:ext>
            </a:extLst>
          </p:cNvPr>
          <p:cNvSpPr/>
          <p:nvPr/>
        </p:nvSpPr>
        <p:spPr>
          <a:xfrm>
            <a:off x="9221492" y="412542"/>
            <a:ext cx="2774196" cy="4453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92A6C8-130F-3A0A-284C-FAF5DB8F4D5F}"/>
              </a:ext>
            </a:extLst>
          </p:cNvPr>
          <p:cNvSpPr txBox="1"/>
          <p:nvPr/>
        </p:nvSpPr>
        <p:spPr>
          <a:xfrm>
            <a:off x="1030014" y="1618434"/>
            <a:ext cx="4729966" cy="477054"/>
          </a:xfrm>
          <a:prstGeom prst="rect">
            <a:avLst/>
          </a:prstGeom>
          <a:noFill/>
        </p:spPr>
        <p:txBody>
          <a:bodyPr wrap="square">
            <a:spAutoFit/>
          </a:bodyPr>
          <a:lstStyle/>
          <a:p>
            <a:pPr algn="ctr">
              <a:buNone/>
            </a:pPr>
            <a:r>
              <a:rPr lang="en-US" sz="2500" dirty="0">
                <a:effectLst/>
                <a:latin typeface="Aptos" panose="020B0004020202020204" pitchFamily="34" charset="0"/>
              </a:rPr>
              <a:t>Cloud Ecosystem Today</a:t>
            </a:r>
          </a:p>
        </p:txBody>
      </p:sp>
      <p:sp>
        <p:nvSpPr>
          <p:cNvPr id="4" name="TextBox 3">
            <a:extLst>
              <a:ext uri="{FF2B5EF4-FFF2-40B4-BE49-F238E27FC236}">
                <a16:creationId xmlns:a16="http://schemas.microsoft.com/office/drawing/2014/main" id="{4861D585-C38A-0B0C-51D6-D2FA9DB33871}"/>
              </a:ext>
            </a:extLst>
          </p:cNvPr>
          <p:cNvSpPr txBox="1"/>
          <p:nvPr/>
        </p:nvSpPr>
        <p:spPr>
          <a:xfrm>
            <a:off x="6390289" y="5276215"/>
            <a:ext cx="4729967" cy="861774"/>
          </a:xfrm>
          <a:prstGeom prst="rect">
            <a:avLst/>
          </a:prstGeom>
          <a:noFill/>
        </p:spPr>
        <p:txBody>
          <a:bodyPr wrap="square">
            <a:spAutoFit/>
          </a:bodyPr>
          <a:lstStyle/>
          <a:p>
            <a:pPr algn="ctr">
              <a:buNone/>
            </a:pPr>
            <a:r>
              <a:rPr lang="en-US" sz="2500" b="1" dirty="0">
                <a:effectLst/>
                <a:latin typeface="Aptos" panose="020B0004020202020204" pitchFamily="34" charset="0"/>
              </a:rPr>
              <a:t>Multi-Provider</a:t>
            </a:r>
          </a:p>
          <a:p>
            <a:pPr algn="ctr">
              <a:buNone/>
            </a:pPr>
            <a:r>
              <a:rPr lang="en-US" sz="2500" b="1" dirty="0">
                <a:effectLst/>
                <a:latin typeface="Aptos" panose="020B0004020202020204" pitchFamily="34" charset="0"/>
              </a:rPr>
              <a:t>Cloud-Edge Continuum</a:t>
            </a:r>
            <a:endParaRPr lang="en-US" sz="2500" dirty="0">
              <a:effectLst/>
              <a:latin typeface="Aptos" panose="020B0004020202020204" pitchFamily="34" charset="0"/>
            </a:endParaRPr>
          </a:p>
        </p:txBody>
      </p:sp>
      <p:sp>
        <p:nvSpPr>
          <p:cNvPr id="5" name="TextBox 4">
            <a:extLst>
              <a:ext uri="{FF2B5EF4-FFF2-40B4-BE49-F238E27FC236}">
                <a16:creationId xmlns:a16="http://schemas.microsoft.com/office/drawing/2014/main" id="{672424C3-A998-1B7C-E2E2-B13AC6720F9C}"/>
              </a:ext>
            </a:extLst>
          </p:cNvPr>
          <p:cNvSpPr txBox="1"/>
          <p:nvPr/>
        </p:nvSpPr>
        <p:spPr>
          <a:xfrm>
            <a:off x="1030013" y="5544077"/>
            <a:ext cx="4729967" cy="477054"/>
          </a:xfrm>
          <a:prstGeom prst="rect">
            <a:avLst/>
          </a:prstGeom>
          <a:noFill/>
        </p:spPr>
        <p:txBody>
          <a:bodyPr wrap="square">
            <a:spAutoFit/>
          </a:bodyPr>
          <a:lstStyle/>
          <a:p>
            <a:pPr algn="ctr">
              <a:buNone/>
            </a:pPr>
            <a:r>
              <a:rPr lang="en-US" sz="2500" b="1" dirty="0">
                <a:effectLst/>
                <a:latin typeface="Aptos" panose="020B0004020202020204" pitchFamily="34" charset="0"/>
              </a:rPr>
              <a:t>Providers</a:t>
            </a:r>
            <a:endParaRPr lang="en-US" sz="2500" dirty="0">
              <a:effectLst/>
              <a:latin typeface="Aptos" panose="020B0004020202020204" pitchFamily="34" charset="0"/>
            </a:endParaRPr>
          </a:p>
        </p:txBody>
      </p:sp>
      <p:pic>
        <p:nvPicPr>
          <p:cNvPr id="15" name="Graphic 7">
            <a:extLst>
              <a:ext uri="{FF2B5EF4-FFF2-40B4-BE49-F238E27FC236}">
                <a16:creationId xmlns:a16="http://schemas.microsoft.com/office/drawing/2014/main" id="{596F71E1-95C1-B14D-1D82-30A7F4D55B7C}"/>
              </a:ext>
            </a:extLst>
          </p:cNvPr>
          <p:cNvPicPr>
            <a:picLocks noChangeAspect="1"/>
          </p:cNvPicPr>
          <p:nvPr/>
        </p:nvPicPr>
        <p:blipFill>
          <a:blip r:embed="rId2"/>
          <a:srcRect/>
          <a:stretch/>
        </p:blipFill>
        <p:spPr>
          <a:xfrm>
            <a:off x="7340949" y="2288748"/>
            <a:ext cx="3028091" cy="2985322"/>
          </a:xfrm>
          <a:prstGeom prst="rect">
            <a:avLst/>
          </a:prstGeom>
        </p:spPr>
      </p:pic>
      <p:sp>
        <p:nvSpPr>
          <p:cNvPr id="16" name="Rectangle 15">
            <a:extLst>
              <a:ext uri="{FF2B5EF4-FFF2-40B4-BE49-F238E27FC236}">
                <a16:creationId xmlns:a16="http://schemas.microsoft.com/office/drawing/2014/main" id="{E897874D-2B41-669E-2D0A-3148C97BBF66}"/>
              </a:ext>
            </a:extLst>
          </p:cNvPr>
          <p:cNvSpPr/>
          <p:nvPr/>
        </p:nvSpPr>
        <p:spPr>
          <a:xfrm>
            <a:off x="8950322" y="2288748"/>
            <a:ext cx="1608052" cy="2985322"/>
          </a:xfrm>
          <a:prstGeom prst="rect">
            <a:avLst/>
          </a:prstGeom>
          <a:gradFill>
            <a:gsLst>
              <a:gs pos="0">
                <a:srgbClr val="A6CAED">
                  <a:alpha val="0"/>
                </a:srgbClr>
              </a:gs>
              <a:gs pos="90000">
                <a:srgbClr val="A6CAED"/>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D7F189CF-3844-25C7-2607-7AF1B2107325}"/>
              </a:ext>
            </a:extLst>
          </p:cNvPr>
          <p:cNvPicPr>
            <a:picLocks noChangeAspect="1"/>
          </p:cNvPicPr>
          <p:nvPr/>
        </p:nvPicPr>
        <p:blipFill>
          <a:blip r:embed="rId3"/>
          <a:stretch>
            <a:fillRect/>
          </a:stretch>
        </p:blipFill>
        <p:spPr>
          <a:xfrm>
            <a:off x="1633626" y="4794602"/>
            <a:ext cx="856170" cy="578819"/>
          </a:xfrm>
          <a:prstGeom prst="rect">
            <a:avLst/>
          </a:prstGeom>
        </p:spPr>
      </p:pic>
      <p:pic>
        <p:nvPicPr>
          <p:cNvPr id="21" name="Picture 20">
            <a:extLst>
              <a:ext uri="{FF2B5EF4-FFF2-40B4-BE49-F238E27FC236}">
                <a16:creationId xmlns:a16="http://schemas.microsoft.com/office/drawing/2014/main" id="{C5EE3A06-B256-CCEC-6B4F-183E2E7F685A}"/>
              </a:ext>
            </a:extLst>
          </p:cNvPr>
          <p:cNvPicPr>
            <a:picLocks noChangeAspect="1"/>
          </p:cNvPicPr>
          <p:nvPr/>
        </p:nvPicPr>
        <p:blipFill>
          <a:blip r:embed="rId3"/>
          <a:stretch>
            <a:fillRect/>
          </a:stretch>
        </p:blipFill>
        <p:spPr>
          <a:xfrm>
            <a:off x="2965789" y="4794602"/>
            <a:ext cx="856170" cy="578819"/>
          </a:xfrm>
          <a:prstGeom prst="rect">
            <a:avLst/>
          </a:prstGeom>
        </p:spPr>
      </p:pic>
      <p:pic>
        <p:nvPicPr>
          <p:cNvPr id="22" name="Picture 21">
            <a:extLst>
              <a:ext uri="{FF2B5EF4-FFF2-40B4-BE49-F238E27FC236}">
                <a16:creationId xmlns:a16="http://schemas.microsoft.com/office/drawing/2014/main" id="{28F22807-3302-0BC3-4703-19C852846D2C}"/>
              </a:ext>
            </a:extLst>
          </p:cNvPr>
          <p:cNvPicPr>
            <a:picLocks noChangeAspect="1"/>
          </p:cNvPicPr>
          <p:nvPr/>
        </p:nvPicPr>
        <p:blipFill>
          <a:blip r:embed="rId3"/>
          <a:stretch>
            <a:fillRect/>
          </a:stretch>
        </p:blipFill>
        <p:spPr>
          <a:xfrm>
            <a:off x="4297952" y="4794602"/>
            <a:ext cx="856170" cy="578819"/>
          </a:xfrm>
          <a:prstGeom prst="rect">
            <a:avLst/>
          </a:prstGeom>
        </p:spPr>
      </p:pic>
      <p:pic>
        <p:nvPicPr>
          <p:cNvPr id="24" name="Picture 23">
            <a:extLst>
              <a:ext uri="{FF2B5EF4-FFF2-40B4-BE49-F238E27FC236}">
                <a16:creationId xmlns:a16="http://schemas.microsoft.com/office/drawing/2014/main" id="{3AC66402-2391-5E9E-FBF0-EF4FAFFCA383}"/>
              </a:ext>
            </a:extLst>
          </p:cNvPr>
          <p:cNvPicPr>
            <a:picLocks noChangeAspect="1"/>
          </p:cNvPicPr>
          <p:nvPr/>
        </p:nvPicPr>
        <p:blipFill>
          <a:blip r:embed="rId4"/>
          <a:stretch>
            <a:fillRect/>
          </a:stretch>
        </p:blipFill>
        <p:spPr>
          <a:xfrm>
            <a:off x="4380909" y="2288748"/>
            <a:ext cx="702821" cy="2733194"/>
          </a:xfrm>
          <a:prstGeom prst="rect">
            <a:avLst/>
          </a:prstGeom>
        </p:spPr>
      </p:pic>
      <p:pic>
        <p:nvPicPr>
          <p:cNvPr id="26" name="Picture 25">
            <a:extLst>
              <a:ext uri="{FF2B5EF4-FFF2-40B4-BE49-F238E27FC236}">
                <a16:creationId xmlns:a16="http://schemas.microsoft.com/office/drawing/2014/main" id="{0ADD8E8D-270D-2A3D-4AAC-96BF72FB569D}"/>
              </a:ext>
            </a:extLst>
          </p:cNvPr>
          <p:cNvPicPr>
            <a:picLocks noChangeAspect="1"/>
          </p:cNvPicPr>
          <p:nvPr/>
        </p:nvPicPr>
        <p:blipFill>
          <a:blip r:embed="rId5"/>
          <a:stretch>
            <a:fillRect/>
          </a:stretch>
        </p:blipFill>
        <p:spPr>
          <a:xfrm>
            <a:off x="3048298" y="2288748"/>
            <a:ext cx="702821" cy="2733193"/>
          </a:xfrm>
          <a:prstGeom prst="rect">
            <a:avLst/>
          </a:prstGeom>
        </p:spPr>
      </p:pic>
      <p:pic>
        <p:nvPicPr>
          <p:cNvPr id="28" name="Picture 27">
            <a:extLst>
              <a:ext uri="{FF2B5EF4-FFF2-40B4-BE49-F238E27FC236}">
                <a16:creationId xmlns:a16="http://schemas.microsoft.com/office/drawing/2014/main" id="{32D6D3FC-9F91-7E50-FD78-98FBF9245C39}"/>
              </a:ext>
            </a:extLst>
          </p:cNvPr>
          <p:cNvPicPr>
            <a:picLocks noChangeAspect="1"/>
          </p:cNvPicPr>
          <p:nvPr/>
        </p:nvPicPr>
        <p:blipFill>
          <a:blip r:embed="rId6"/>
          <a:stretch>
            <a:fillRect/>
          </a:stretch>
        </p:blipFill>
        <p:spPr>
          <a:xfrm>
            <a:off x="1726305" y="2288748"/>
            <a:ext cx="695012" cy="2733194"/>
          </a:xfrm>
          <a:prstGeom prst="rect">
            <a:avLst/>
          </a:prstGeom>
        </p:spPr>
      </p:pic>
      <p:sp>
        <p:nvSpPr>
          <p:cNvPr id="29" name="TextBox 28">
            <a:extLst>
              <a:ext uri="{FF2B5EF4-FFF2-40B4-BE49-F238E27FC236}">
                <a16:creationId xmlns:a16="http://schemas.microsoft.com/office/drawing/2014/main" id="{A160BD0F-7C83-53FF-6875-1BA1C3E81D3E}"/>
              </a:ext>
            </a:extLst>
          </p:cNvPr>
          <p:cNvSpPr txBox="1"/>
          <p:nvPr/>
        </p:nvSpPr>
        <p:spPr>
          <a:xfrm>
            <a:off x="1398899" y="245416"/>
            <a:ext cx="9394201" cy="1015663"/>
          </a:xfrm>
          <a:prstGeom prst="rect">
            <a:avLst/>
          </a:prstGeom>
          <a:noFill/>
        </p:spPr>
        <p:txBody>
          <a:bodyPr wrap="square">
            <a:spAutoFit/>
          </a:bodyPr>
          <a:lstStyle/>
          <a:p>
            <a:pPr algn="ctr">
              <a:buNone/>
            </a:pPr>
            <a:r>
              <a:rPr lang="en-US" sz="3000" b="1" dirty="0">
                <a:effectLst/>
                <a:latin typeface="Aptos" panose="020B0004020202020204" pitchFamily="34" charset="0"/>
              </a:rPr>
              <a:t>Reference architecture </a:t>
            </a:r>
          </a:p>
          <a:p>
            <a:pPr algn="ctr">
              <a:buNone/>
            </a:pPr>
            <a:r>
              <a:rPr lang="en-US" sz="3000" b="1" dirty="0">
                <a:effectLst/>
                <a:latin typeface="Aptos" panose="020B0004020202020204" pitchFamily="34" charset="0"/>
              </a:rPr>
              <a:t>for an interoperable cloud</a:t>
            </a:r>
            <a:endParaRPr lang="en-US" sz="3000" dirty="0">
              <a:effectLst/>
              <a:latin typeface="Aptos" panose="020B0004020202020204" pitchFamily="34" charset="0"/>
            </a:endParaRPr>
          </a:p>
        </p:txBody>
      </p:sp>
    </p:spTree>
    <p:extLst>
      <p:ext uri="{BB962C8B-B14F-4D97-AF65-F5344CB8AC3E}">
        <p14:creationId xmlns:p14="http://schemas.microsoft.com/office/powerpoint/2010/main" val="27135359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6F9E1B5-2502-C8B1-E4CB-B6413E27D852}"/>
              </a:ext>
            </a:extLst>
          </p:cNvPr>
          <p:cNvSpPr/>
          <p:nvPr/>
        </p:nvSpPr>
        <p:spPr>
          <a:xfrm rot="16200000">
            <a:off x="6360370"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01EDEC6-AF07-8E9D-77D7-BE5AA95C4BED}"/>
              </a:ext>
            </a:extLst>
          </p:cNvPr>
          <p:cNvSpPr txBox="1"/>
          <p:nvPr/>
        </p:nvSpPr>
        <p:spPr>
          <a:xfrm rot="16200000">
            <a:off x="6845769"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Sustainability</a:t>
            </a:r>
          </a:p>
        </p:txBody>
      </p:sp>
      <p:sp>
        <p:nvSpPr>
          <p:cNvPr id="64" name="Rectangle 63">
            <a:extLst>
              <a:ext uri="{FF2B5EF4-FFF2-40B4-BE49-F238E27FC236}">
                <a16:creationId xmlns:a16="http://schemas.microsoft.com/office/drawing/2014/main" id="{44456F34-3243-6A3D-9975-CDA4BC8EC3B4}"/>
              </a:ext>
            </a:extLst>
          </p:cNvPr>
          <p:cNvSpPr/>
          <p:nvPr/>
        </p:nvSpPr>
        <p:spPr>
          <a:xfrm rot="16200000">
            <a:off x="7109879"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75C44B4-E0E3-AE11-A837-5316C8C88F1B}"/>
              </a:ext>
            </a:extLst>
          </p:cNvPr>
          <p:cNvSpPr/>
          <p:nvPr/>
        </p:nvSpPr>
        <p:spPr>
          <a:xfrm rot="16200000">
            <a:off x="7859387" y="3495392"/>
            <a:ext cx="4442386" cy="659568"/>
          </a:xfrm>
          <a:prstGeom prst="rect">
            <a:avLst/>
          </a:prstGeom>
          <a:gradFill flip="none" rotWithShape="1">
            <a:gsLst>
              <a:gs pos="32000">
                <a:srgbClr val="4F95D9"/>
              </a:gs>
              <a:gs pos="7000">
                <a:srgbClr val="163E64"/>
              </a:gs>
              <a:gs pos="73000">
                <a:srgbClr val="A6CAED"/>
              </a:gs>
            </a:gsLst>
            <a:lin ang="0" scaled="0"/>
            <a:tileRect/>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A0D9085-264A-87D5-2D8E-214808DB217B}"/>
              </a:ext>
            </a:extLst>
          </p:cNvPr>
          <p:cNvSpPr/>
          <p:nvPr/>
        </p:nvSpPr>
        <p:spPr>
          <a:xfrm>
            <a:off x="1386286" y="915798"/>
            <a:ext cx="6745573" cy="4396676"/>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F1868-3A73-880E-1B23-F03FDC6C20CC}"/>
              </a:ext>
            </a:extLst>
          </p:cNvPr>
          <p:cNvSpPr/>
          <p:nvPr/>
        </p:nvSpPr>
        <p:spPr>
          <a:xfrm>
            <a:off x="1506206" y="1595386"/>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F8C31F-2B14-01CB-2688-1FB56BDA2462}"/>
              </a:ext>
            </a:extLst>
          </p:cNvPr>
          <p:cNvSpPr/>
          <p:nvPr/>
        </p:nvSpPr>
        <p:spPr>
          <a:xfrm>
            <a:off x="4834022"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3F517C1-D63E-CF68-2D99-C9CA40D5BCC8}"/>
              </a:ext>
            </a:extLst>
          </p:cNvPr>
          <p:cNvSpPr/>
          <p:nvPr/>
        </p:nvSpPr>
        <p:spPr>
          <a:xfrm>
            <a:off x="1506206" y="2344891"/>
            <a:ext cx="3207896"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96B2AD-1686-EC6A-565C-28EC347D9831}"/>
              </a:ext>
            </a:extLst>
          </p:cNvPr>
          <p:cNvSpPr/>
          <p:nvPr/>
        </p:nvSpPr>
        <p:spPr>
          <a:xfrm>
            <a:off x="1506206" y="3094248"/>
            <a:ext cx="6535712" cy="659568"/>
          </a:xfrm>
          <a:prstGeom prst="rect">
            <a:avLst/>
          </a:prstGeom>
          <a:solidFill>
            <a:schemeClr val="tx2">
              <a:lumMod val="25000"/>
              <a:lumOff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8F20675-3A52-1BD7-98F4-DC1D1D4586B6}"/>
              </a:ext>
            </a:extLst>
          </p:cNvPr>
          <p:cNvSpPr/>
          <p:nvPr/>
        </p:nvSpPr>
        <p:spPr>
          <a:xfrm>
            <a:off x="1506206" y="3825176"/>
            <a:ext cx="6535712"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8BF81D3-5E73-990E-CE35-D77C3B22F4BD}"/>
              </a:ext>
            </a:extLst>
          </p:cNvPr>
          <p:cNvSpPr/>
          <p:nvPr/>
        </p:nvSpPr>
        <p:spPr>
          <a:xfrm>
            <a:off x="1506206" y="4550890"/>
            <a:ext cx="4775439" cy="659568"/>
          </a:xfrm>
          <a:prstGeom prst="rect">
            <a:avLst/>
          </a:prstGeom>
          <a:solidFill>
            <a:schemeClr val="tx2">
              <a:lumMod val="50000"/>
              <a:lumOff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760F7F-37EE-8F33-107F-4309DAB6DB2B}"/>
              </a:ext>
            </a:extLst>
          </p:cNvPr>
          <p:cNvSpPr/>
          <p:nvPr/>
        </p:nvSpPr>
        <p:spPr>
          <a:xfrm>
            <a:off x="6368493" y="4550890"/>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D2FC19-3572-A9A2-6C45-9D4FBE23E88F}"/>
              </a:ext>
            </a:extLst>
          </p:cNvPr>
          <p:cNvSpPr/>
          <p:nvPr/>
        </p:nvSpPr>
        <p:spPr>
          <a:xfrm>
            <a:off x="1506206" y="5378204"/>
            <a:ext cx="4775439"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F0CE9F6-5080-53E2-7EC5-09E0D6B9A487}"/>
              </a:ext>
            </a:extLst>
          </p:cNvPr>
          <p:cNvSpPr/>
          <p:nvPr/>
        </p:nvSpPr>
        <p:spPr>
          <a:xfrm>
            <a:off x="6368493" y="5378204"/>
            <a:ext cx="1673426" cy="659568"/>
          </a:xfrm>
          <a:prstGeom prst="rect">
            <a:avLst/>
          </a:prstGeom>
          <a:solidFill>
            <a:schemeClr val="tx2">
              <a:lumMod val="90000"/>
              <a:lumOff val="1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B428EFD-CEC2-47CC-B6D8-1F21D81A3D24}"/>
              </a:ext>
            </a:extLst>
          </p:cNvPr>
          <p:cNvSpPr txBox="1"/>
          <p:nvPr/>
        </p:nvSpPr>
        <p:spPr>
          <a:xfrm>
            <a:off x="3110154" y="1055505"/>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Federation</a:t>
            </a:r>
          </a:p>
        </p:txBody>
      </p:sp>
      <p:sp>
        <p:nvSpPr>
          <p:cNvPr id="31" name="TextBox 30">
            <a:extLst>
              <a:ext uri="{FF2B5EF4-FFF2-40B4-BE49-F238E27FC236}">
                <a16:creationId xmlns:a16="http://schemas.microsoft.com/office/drawing/2014/main" id="{D9E5645F-9586-1D14-EE88-1C942E46400E}"/>
              </a:ext>
            </a:extLst>
          </p:cNvPr>
          <p:cNvSpPr txBox="1"/>
          <p:nvPr/>
        </p:nvSpPr>
        <p:spPr>
          <a:xfrm>
            <a:off x="3110154" y="173922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Application</a:t>
            </a:r>
          </a:p>
        </p:txBody>
      </p:sp>
      <p:sp>
        <p:nvSpPr>
          <p:cNvPr id="33" name="TextBox 32">
            <a:extLst>
              <a:ext uri="{FF2B5EF4-FFF2-40B4-BE49-F238E27FC236}">
                <a16:creationId xmlns:a16="http://schemas.microsoft.com/office/drawing/2014/main" id="{F0300EE5-302D-AEC7-5F42-2C7A67378888}"/>
              </a:ext>
            </a:extLst>
          </p:cNvPr>
          <p:cNvSpPr txBox="1"/>
          <p:nvPr/>
        </p:nvSpPr>
        <p:spPr>
          <a:xfrm>
            <a:off x="1994258"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Data</a:t>
            </a:r>
          </a:p>
        </p:txBody>
      </p:sp>
      <p:sp>
        <p:nvSpPr>
          <p:cNvPr id="35" name="TextBox 34">
            <a:extLst>
              <a:ext uri="{FF2B5EF4-FFF2-40B4-BE49-F238E27FC236}">
                <a16:creationId xmlns:a16="http://schemas.microsoft.com/office/drawing/2014/main" id="{4AF4D311-3708-12DD-03DB-E130262D909C}"/>
              </a:ext>
            </a:extLst>
          </p:cNvPr>
          <p:cNvSpPr txBox="1"/>
          <p:nvPr/>
        </p:nvSpPr>
        <p:spPr>
          <a:xfrm>
            <a:off x="5380396" y="2495356"/>
            <a:ext cx="2104784" cy="369332"/>
          </a:xfrm>
          <a:prstGeom prst="rect">
            <a:avLst/>
          </a:prstGeom>
          <a:noFill/>
        </p:spPr>
        <p:txBody>
          <a:bodyPr wrap="square">
            <a:spAutoFit/>
          </a:bodyPr>
          <a:lstStyle/>
          <a:p>
            <a:pPr algn="ctr">
              <a:buNone/>
            </a:pPr>
            <a:r>
              <a:rPr lang="en-US" b="1" dirty="0">
                <a:effectLst/>
                <a:latin typeface="Aptos" panose="020B0004020202020204" pitchFamily="34" charset="0"/>
              </a:rPr>
              <a:t>AI</a:t>
            </a:r>
          </a:p>
        </p:txBody>
      </p:sp>
      <p:sp>
        <p:nvSpPr>
          <p:cNvPr id="37" name="TextBox 36">
            <a:extLst>
              <a:ext uri="{FF2B5EF4-FFF2-40B4-BE49-F238E27FC236}">
                <a16:creationId xmlns:a16="http://schemas.microsoft.com/office/drawing/2014/main" id="{799143E5-DB98-A219-4AAE-8A180EFE2E0D}"/>
              </a:ext>
            </a:extLst>
          </p:cNvPr>
          <p:cNvSpPr txBox="1"/>
          <p:nvPr/>
        </p:nvSpPr>
        <p:spPr>
          <a:xfrm>
            <a:off x="3110154" y="3253697"/>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Service Orchestration</a:t>
            </a:r>
          </a:p>
        </p:txBody>
      </p:sp>
      <p:sp>
        <p:nvSpPr>
          <p:cNvPr id="39" name="TextBox 38">
            <a:extLst>
              <a:ext uri="{FF2B5EF4-FFF2-40B4-BE49-F238E27FC236}">
                <a16:creationId xmlns:a16="http://schemas.microsoft.com/office/drawing/2014/main" id="{6CE6BBED-D3E8-C240-C9EE-24D771848157}"/>
              </a:ext>
            </a:extLst>
          </p:cNvPr>
          <p:cNvSpPr txBox="1"/>
          <p:nvPr/>
        </p:nvSpPr>
        <p:spPr>
          <a:xfrm>
            <a:off x="3110154" y="3968072"/>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Cloud Edge Platform</a:t>
            </a:r>
          </a:p>
        </p:txBody>
      </p:sp>
      <p:sp>
        <p:nvSpPr>
          <p:cNvPr id="41" name="TextBox 40">
            <a:extLst>
              <a:ext uri="{FF2B5EF4-FFF2-40B4-BE49-F238E27FC236}">
                <a16:creationId xmlns:a16="http://schemas.microsoft.com/office/drawing/2014/main" id="{9ABCAFB5-32B9-4E20-F1BE-30FFFAEB3235}"/>
              </a:ext>
            </a:extLst>
          </p:cNvPr>
          <p:cNvSpPr txBox="1"/>
          <p:nvPr/>
        </p:nvSpPr>
        <p:spPr>
          <a:xfrm>
            <a:off x="2159788" y="469673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Virtualization</a:t>
            </a:r>
          </a:p>
        </p:txBody>
      </p:sp>
      <p:sp>
        <p:nvSpPr>
          <p:cNvPr id="43" name="TextBox 42">
            <a:extLst>
              <a:ext uri="{FF2B5EF4-FFF2-40B4-BE49-F238E27FC236}">
                <a16:creationId xmlns:a16="http://schemas.microsoft.com/office/drawing/2014/main" id="{97036EFF-4987-9B72-3A46-261D30C1F70B}"/>
              </a:ext>
            </a:extLst>
          </p:cNvPr>
          <p:cNvSpPr txBox="1"/>
          <p:nvPr/>
        </p:nvSpPr>
        <p:spPr>
          <a:xfrm>
            <a:off x="1669679" y="5525410"/>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Physical Cloud Edge Resources</a:t>
            </a:r>
          </a:p>
        </p:txBody>
      </p:sp>
      <p:sp>
        <p:nvSpPr>
          <p:cNvPr id="45" name="TextBox 44">
            <a:extLst>
              <a:ext uri="{FF2B5EF4-FFF2-40B4-BE49-F238E27FC236}">
                <a16:creationId xmlns:a16="http://schemas.microsoft.com/office/drawing/2014/main" id="{4A48132E-0699-3421-BF3D-55F0EFD2F10D}"/>
              </a:ext>
            </a:extLst>
          </p:cNvPr>
          <p:cNvSpPr txBox="1"/>
          <p:nvPr/>
        </p:nvSpPr>
        <p:spPr>
          <a:xfrm>
            <a:off x="6178692" y="4621610"/>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Network Systems,</a:t>
            </a:r>
          </a:p>
          <a:p>
            <a:pPr algn="ctr">
              <a:buNone/>
            </a:pPr>
            <a:r>
              <a:rPr lang="en-US" sz="1500" b="1" dirty="0">
                <a:solidFill>
                  <a:schemeClr val="bg1">
                    <a:lumMod val="95000"/>
                  </a:schemeClr>
                </a:solidFill>
                <a:latin typeface="Aptos" panose="020B0004020202020204" pitchFamily="34" charset="0"/>
              </a:rPr>
              <a:t>SDN Controllers</a:t>
            </a:r>
            <a:endParaRPr lang="en-US" sz="1500" b="1" dirty="0">
              <a:solidFill>
                <a:schemeClr val="bg1">
                  <a:lumMod val="95000"/>
                </a:schemeClr>
              </a:solidFill>
              <a:effectLst/>
              <a:latin typeface="Aptos" panose="020B0004020202020204" pitchFamily="34" charset="0"/>
            </a:endParaRPr>
          </a:p>
        </p:txBody>
      </p:sp>
      <p:sp>
        <p:nvSpPr>
          <p:cNvPr id="47" name="TextBox 46">
            <a:extLst>
              <a:ext uri="{FF2B5EF4-FFF2-40B4-BE49-F238E27FC236}">
                <a16:creationId xmlns:a16="http://schemas.microsoft.com/office/drawing/2014/main" id="{3EEA4CE0-CC7C-8FFF-004B-48B43A48DB6F}"/>
              </a:ext>
            </a:extLst>
          </p:cNvPr>
          <p:cNvSpPr txBox="1"/>
          <p:nvPr/>
        </p:nvSpPr>
        <p:spPr>
          <a:xfrm>
            <a:off x="6178692" y="5432493"/>
            <a:ext cx="2104784" cy="553998"/>
          </a:xfrm>
          <a:prstGeom prst="rect">
            <a:avLst/>
          </a:prstGeom>
          <a:noFill/>
        </p:spPr>
        <p:txBody>
          <a:bodyPr wrap="square">
            <a:spAutoFit/>
          </a:bodyPr>
          <a:lstStyle/>
          <a:p>
            <a:pPr algn="ctr">
              <a:buNone/>
            </a:pPr>
            <a:r>
              <a:rPr lang="en-US" sz="1500" b="1" dirty="0">
                <a:solidFill>
                  <a:schemeClr val="bg1">
                    <a:lumMod val="95000"/>
                  </a:schemeClr>
                </a:solidFill>
                <a:effectLst/>
                <a:latin typeface="Aptos" panose="020B0004020202020204" pitchFamily="34" charset="0"/>
              </a:rPr>
              <a:t>Physical Network</a:t>
            </a:r>
          </a:p>
          <a:p>
            <a:pPr algn="ctr">
              <a:buNone/>
            </a:pPr>
            <a:r>
              <a:rPr lang="en-US" sz="1500" b="1" dirty="0">
                <a:solidFill>
                  <a:schemeClr val="bg1">
                    <a:lumMod val="95000"/>
                  </a:schemeClr>
                </a:solidFill>
                <a:latin typeface="Aptos" panose="020B0004020202020204" pitchFamily="34" charset="0"/>
              </a:rPr>
              <a:t>Resources</a:t>
            </a:r>
            <a:endParaRPr lang="en-US" sz="1500" b="1" dirty="0">
              <a:solidFill>
                <a:schemeClr val="bg1">
                  <a:lumMod val="95000"/>
                </a:schemeClr>
              </a:solidFill>
              <a:effectLst/>
              <a:latin typeface="Aptos" panose="020B0004020202020204" pitchFamily="34" charset="0"/>
            </a:endParaRPr>
          </a:p>
        </p:txBody>
      </p:sp>
      <p:sp>
        <p:nvSpPr>
          <p:cNvPr id="49" name="Rectangle 48">
            <a:extLst>
              <a:ext uri="{FF2B5EF4-FFF2-40B4-BE49-F238E27FC236}">
                <a16:creationId xmlns:a16="http://schemas.microsoft.com/office/drawing/2014/main" id="{419CC3A6-1BEA-D5C5-5EC4-EA35DDA94AD9}"/>
              </a:ext>
            </a:extLst>
          </p:cNvPr>
          <p:cNvSpPr/>
          <p:nvPr/>
        </p:nvSpPr>
        <p:spPr>
          <a:xfrm>
            <a:off x="5253731" y="5482041"/>
            <a:ext cx="899527" cy="460161"/>
          </a:xfrm>
          <a:prstGeom prst="rect">
            <a:avLst/>
          </a:prstGeom>
          <a:solidFill>
            <a:schemeClr val="tx2">
              <a:lumMod val="10000"/>
              <a:lumOff val="90000"/>
              <a:alpha val="4901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2FF3A4B1-8DE6-256F-C095-FEA5C7C2DC93}"/>
              </a:ext>
            </a:extLst>
          </p:cNvPr>
          <p:cNvSpPr txBox="1"/>
          <p:nvPr/>
        </p:nvSpPr>
        <p:spPr>
          <a:xfrm>
            <a:off x="5234256" y="5492890"/>
            <a:ext cx="977648" cy="461665"/>
          </a:xfrm>
          <a:prstGeom prst="rect">
            <a:avLst/>
          </a:prstGeom>
          <a:noFill/>
        </p:spPr>
        <p:txBody>
          <a:bodyPr wrap="square">
            <a:spAutoFit/>
          </a:bodyPr>
          <a:lstStyle/>
          <a:p>
            <a:pPr>
              <a:buNone/>
            </a:pPr>
            <a:r>
              <a:rPr lang="en-US" sz="1200" dirty="0">
                <a:solidFill>
                  <a:schemeClr val="bg1">
                    <a:lumMod val="95000"/>
                  </a:schemeClr>
                </a:solidFill>
                <a:effectLst/>
                <a:latin typeface="Aptos" panose="020B0004020202020204" pitchFamily="34" charset="0"/>
              </a:rPr>
              <a:t>In DC </a:t>
            </a:r>
          </a:p>
          <a:p>
            <a:pPr>
              <a:buNone/>
            </a:pPr>
            <a:r>
              <a:rPr lang="en-US" sz="1200" dirty="0">
                <a:solidFill>
                  <a:schemeClr val="bg1">
                    <a:lumMod val="95000"/>
                  </a:schemeClr>
                </a:solidFill>
                <a:effectLst/>
                <a:latin typeface="Aptos" panose="020B0004020202020204" pitchFamily="34" charset="0"/>
              </a:rPr>
              <a:t>Networking</a:t>
            </a:r>
          </a:p>
        </p:txBody>
      </p:sp>
      <p:sp>
        <p:nvSpPr>
          <p:cNvPr id="55" name="TextBox 54">
            <a:extLst>
              <a:ext uri="{FF2B5EF4-FFF2-40B4-BE49-F238E27FC236}">
                <a16:creationId xmlns:a16="http://schemas.microsoft.com/office/drawing/2014/main" id="{D0F102D8-3C67-2899-2B00-78ED5A971FEF}"/>
              </a:ext>
            </a:extLst>
          </p:cNvPr>
          <p:cNvSpPr txBox="1"/>
          <p:nvPr/>
        </p:nvSpPr>
        <p:spPr>
          <a:xfrm rot="16200000">
            <a:off x="759688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Security and Compliance</a:t>
            </a:r>
          </a:p>
        </p:txBody>
      </p:sp>
      <p:sp>
        <p:nvSpPr>
          <p:cNvPr id="60" name="TextBox 59">
            <a:extLst>
              <a:ext uri="{FF2B5EF4-FFF2-40B4-BE49-F238E27FC236}">
                <a16:creationId xmlns:a16="http://schemas.microsoft.com/office/drawing/2014/main" id="{0B7891FC-BA4E-2729-8BB5-C9FBD916B9C9}"/>
              </a:ext>
            </a:extLst>
          </p:cNvPr>
          <p:cNvSpPr txBox="1"/>
          <p:nvPr/>
        </p:nvSpPr>
        <p:spPr>
          <a:xfrm rot="16200000">
            <a:off x="8337114" y="3640511"/>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Management</a:t>
            </a:r>
          </a:p>
        </p:txBody>
      </p:sp>
      <p:pic>
        <p:nvPicPr>
          <p:cNvPr id="8" name="Graphic 7">
            <a:extLst>
              <a:ext uri="{FF2B5EF4-FFF2-40B4-BE49-F238E27FC236}">
                <a16:creationId xmlns:a16="http://schemas.microsoft.com/office/drawing/2014/main" id="{B7B67605-3D1D-CEAC-049A-A26B6C9DA4BB}"/>
              </a:ext>
            </a:extLst>
          </p:cNvPr>
          <p:cNvPicPr>
            <a:picLocks noChangeAspect="1"/>
          </p:cNvPicPr>
          <p:nvPr/>
        </p:nvPicPr>
        <p:blipFill>
          <a:blip r:embed="rId3"/>
          <a:srcRect/>
          <a:stretch/>
        </p:blipFill>
        <p:spPr>
          <a:xfrm>
            <a:off x="9854780" y="2370296"/>
            <a:ext cx="442160" cy="433692"/>
          </a:xfrm>
          <a:prstGeom prst="rect">
            <a:avLst/>
          </a:prstGeom>
        </p:spPr>
      </p:pic>
      <p:pic>
        <p:nvPicPr>
          <p:cNvPr id="10" name="Graphic 9">
            <a:extLst>
              <a:ext uri="{FF2B5EF4-FFF2-40B4-BE49-F238E27FC236}">
                <a16:creationId xmlns:a16="http://schemas.microsoft.com/office/drawing/2014/main" id="{8E13779F-66AA-E4B0-1D73-A30EC90BE8F3}"/>
              </a:ext>
            </a:extLst>
          </p:cNvPr>
          <p:cNvPicPr>
            <a:picLocks noChangeAspect="1"/>
          </p:cNvPicPr>
          <p:nvPr/>
        </p:nvPicPr>
        <p:blipFill>
          <a:blip r:embed="rId4"/>
          <a:srcRect/>
          <a:stretch/>
        </p:blipFill>
        <p:spPr>
          <a:xfrm>
            <a:off x="1592461" y="4610866"/>
            <a:ext cx="508189" cy="512279"/>
          </a:xfrm>
          <a:prstGeom prst="rect">
            <a:avLst/>
          </a:prstGeom>
        </p:spPr>
      </p:pic>
      <p:pic>
        <p:nvPicPr>
          <p:cNvPr id="25" name="Graphic 24">
            <a:extLst>
              <a:ext uri="{FF2B5EF4-FFF2-40B4-BE49-F238E27FC236}">
                <a16:creationId xmlns:a16="http://schemas.microsoft.com/office/drawing/2014/main" id="{2E30539F-4BDB-CA17-993F-F09D31839554}"/>
              </a:ext>
            </a:extLst>
          </p:cNvPr>
          <p:cNvPicPr>
            <a:picLocks noChangeAspect="1"/>
          </p:cNvPicPr>
          <p:nvPr/>
        </p:nvPicPr>
        <p:blipFill>
          <a:blip r:embed="rId5"/>
          <a:srcRect/>
          <a:stretch/>
        </p:blipFill>
        <p:spPr>
          <a:xfrm>
            <a:off x="1644940" y="1009033"/>
            <a:ext cx="339494" cy="493149"/>
          </a:xfrm>
          <a:prstGeom prst="rect">
            <a:avLst/>
          </a:prstGeom>
        </p:spPr>
      </p:pic>
      <p:pic>
        <p:nvPicPr>
          <p:cNvPr id="42" name="Graphic 41">
            <a:extLst>
              <a:ext uri="{FF2B5EF4-FFF2-40B4-BE49-F238E27FC236}">
                <a16:creationId xmlns:a16="http://schemas.microsoft.com/office/drawing/2014/main" id="{5B7D0B11-4746-3F22-BE68-F181F3A73ED3}"/>
              </a:ext>
            </a:extLst>
          </p:cNvPr>
          <p:cNvPicPr>
            <a:picLocks noChangeAspect="1"/>
          </p:cNvPicPr>
          <p:nvPr/>
        </p:nvPicPr>
        <p:blipFill>
          <a:blip r:embed="rId6"/>
          <a:srcRect/>
          <a:stretch/>
        </p:blipFill>
        <p:spPr>
          <a:xfrm>
            <a:off x="9898212" y="1688670"/>
            <a:ext cx="314271" cy="563804"/>
          </a:xfrm>
          <a:prstGeom prst="rect">
            <a:avLst/>
          </a:prstGeom>
        </p:spPr>
      </p:pic>
      <p:pic>
        <p:nvPicPr>
          <p:cNvPr id="46" name="Graphic 45">
            <a:extLst>
              <a:ext uri="{FF2B5EF4-FFF2-40B4-BE49-F238E27FC236}">
                <a16:creationId xmlns:a16="http://schemas.microsoft.com/office/drawing/2014/main" id="{DFEAED4B-58B4-0C90-2D0D-037633342BF5}"/>
              </a:ext>
            </a:extLst>
          </p:cNvPr>
          <p:cNvPicPr>
            <a:picLocks noChangeAspect="1"/>
          </p:cNvPicPr>
          <p:nvPr/>
        </p:nvPicPr>
        <p:blipFill>
          <a:blip r:embed="rId7"/>
          <a:srcRect/>
          <a:stretch/>
        </p:blipFill>
        <p:spPr>
          <a:xfrm>
            <a:off x="2297984" y="4623392"/>
            <a:ext cx="316677" cy="515252"/>
          </a:xfrm>
          <a:prstGeom prst="rect">
            <a:avLst/>
          </a:prstGeom>
        </p:spPr>
      </p:pic>
      <p:pic>
        <p:nvPicPr>
          <p:cNvPr id="7" name="Graphic 6">
            <a:extLst>
              <a:ext uri="{FF2B5EF4-FFF2-40B4-BE49-F238E27FC236}">
                <a16:creationId xmlns:a16="http://schemas.microsoft.com/office/drawing/2014/main" id="{BFF5035E-1768-05DE-B678-83E6C3DC08B8}"/>
              </a:ext>
            </a:extLst>
          </p:cNvPr>
          <p:cNvPicPr>
            <a:picLocks noChangeAspect="1"/>
          </p:cNvPicPr>
          <p:nvPr/>
        </p:nvPicPr>
        <p:blipFill>
          <a:blip r:embed="rId8"/>
          <a:srcRect/>
          <a:stretch/>
        </p:blipFill>
        <p:spPr>
          <a:xfrm>
            <a:off x="9094152" y="1697454"/>
            <a:ext cx="467547" cy="511582"/>
          </a:xfrm>
          <a:prstGeom prst="rect">
            <a:avLst/>
          </a:prstGeom>
        </p:spPr>
      </p:pic>
      <p:pic>
        <p:nvPicPr>
          <p:cNvPr id="9" name="Graphic 8">
            <a:extLst>
              <a:ext uri="{FF2B5EF4-FFF2-40B4-BE49-F238E27FC236}">
                <a16:creationId xmlns:a16="http://schemas.microsoft.com/office/drawing/2014/main" id="{F211DE9D-86BE-E494-7A5A-7A21666A9CEA}"/>
              </a:ext>
            </a:extLst>
          </p:cNvPr>
          <p:cNvPicPr>
            <a:picLocks noChangeAspect="1"/>
          </p:cNvPicPr>
          <p:nvPr/>
        </p:nvPicPr>
        <p:blipFill>
          <a:blip r:embed="rId9"/>
          <a:srcRect/>
          <a:stretch/>
        </p:blipFill>
        <p:spPr>
          <a:xfrm>
            <a:off x="2158549" y="1656096"/>
            <a:ext cx="437102" cy="555972"/>
          </a:xfrm>
          <a:prstGeom prst="rect">
            <a:avLst/>
          </a:prstGeom>
        </p:spPr>
      </p:pic>
      <p:pic>
        <p:nvPicPr>
          <p:cNvPr id="11" name="Graphic 10">
            <a:extLst>
              <a:ext uri="{FF2B5EF4-FFF2-40B4-BE49-F238E27FC236}">
                <a16:creationId xmlns:a16="http://schemas.microsoft.com/office/drawing/2014/main" id="{0FC537A0-65CA-95B5-4E92-589EF4882188}"/>
              </a:ext>
            </a:extLst>
          </p:cNvPr>
          <p:cNvPicPr>
            <a:picLocks noChangeAspect="1"/>
          </p:cNvPicPr>
          <p:nvPr/>
        </p:nvPicPr>
        <p:blipFill>
          <a:blip r:embed="rId10"/>
          <a:srcRect/>
          <a:stretch/>
        </p:blipFill>
        <p:spPr>
          <a:xfrm>
            <a:off x="1622175" y="1659735"/>
            <a:ext cx="400586" cy="542126"/>
          </a:xfrm>
          <a:prstGeom prst="rect">
            <a:avLst/>
          </a:prstGeom>
        </p:spPr>
      </p:pic>
      <p:pic>
        <p:nvPicPr>
          <p:cNvPr id="19" name="Graphic 18">
            <a:extLst>
              <a:ext uri="{FF2B5EF4-FFF2-40B4-BE49-F238E27FC236}">
                <a16:creationId xmlns:a16="http://schemas.microsoft.com/office/drawing/2014/main" id="{CAC31DDA-4081-6817-671D-284E9108893D}"/>
              </a:ext>
            </a:extLst>
          </p:cNvPr>
          <p:cNvPicPr>
            <a:picLocks noChangeAspect="1"/>
          </p:cNvPicPr>
          <p:nvPr/>
        </p:nvPicPr>
        <p:blipFill>
          <a:blip r:embed="rId11"/>
          <a:srcRect/>
          <a:stretch/>
        </p:blipFill>
        <p:spPr>
          <a:xfrm>
            <a:off x="1622175" y="2402084"/>
            <a:ext cx="396712" cy="565852"/>
          </a:xfrm>
          <a:prstGeom prst="rect">
            <a:avLst/>
          </a:prstGeom>
        </p:spPr>
      </p:pic>
      <p:pic>
        <p:nvPicPr>
          <p:cNvPr id="24" name="Graphic 23">
            <a:extLst>
              <a:ext uri="{FF2B5EF4-FFF2-40B4-BE49-F238E27FC236}">
                <a16:creationId xmlns:a16="http://schemas.microsoft.com/office/drawing/2014/main" id="{9757C319-B952-C83D-1F0B-0290F5637997}"/>
              </a:ext>
            </a:extLst>
          </p:cNvPr>
          <p:cNvPicPr>
            <a:picLocks noChangeAspect="1"/>
          </p:cNvPicPr>
          <p:nvPr/>
        </p:nvPicPr>
        <p:blipFill>
          <a:blip r:embed="rId12"/>
          <a:srcRect/>
          <a:stretch/>
        </p:blipFill>
        <p:spPr>
          <a:xfrm>
            <a:off x="1566432" y="3143252"/>
            <a:ext cx="471244" cy="571495"/>
          </a:xfrm>
          <a:prstGeom prst="rect">
            <a:avLst/>
          </a:prstGeom>
        </p:spPr>
      </p:pic>
      <p:pic>
        <p:nvPicPr>
          <p:cNvPr id="26" name="Graphic 25">
            <a:extLst>
              <a:ext uri="{FF2B5EF4-FFF2-40B4-BE49-F238E27FC236}">
                <a16:creationId xmlns:a16="http://schemas.microsoft.com/office/drawing/2014/main" id="{E6CCB4FD-5C4A-8D11-BCCE-98376365D6F9}"/>
              </a:ext>
            </a:extLst>
          </p:cNvPr>
          <p:cNvPicPr>
            <a:picLocks noChangeAspect="1"/>
          </p:cNvPicPr>
          <p:nvPr/>
        </p:nvPicPr>
        <p:blipFill>
          <a:blip r:embed="rId13"/>
          <a:srcRect/>
          <a:stretch/>
        </p:blipFill>
        <p:spPr>
          <a:xfrm>
            <a:off x="2219300" y="3895192"/>
            <a:ext cx="467615" cy="544303"/>
          </a:xfrm>
          <a:prstGeom prst="rect">
            <a:avLst/>
          </a:prstGeom>
        </p:spPr>
      </p:pic>
      <p:pic>
        <p:nvPicPr>
          <p:cNvPr id="27" name="Graphic 26">
            <a:extLst>
              <a:ext uri="{FF2B5EF4-FFF2-40B4-BE49-F238E27FC236}">
                <a16:creationId xmlns:a16="http://schemas.microsoft.com/office/drawing/2014/main" id="{6D418F29-98B4-C5CE-E06F-7AFA7682B2D7}"/>
              </a:ext>
            </a:extLst>
          </p:cNvPr>
          <p:cNvPicPr>
            <a:picLocks noChangeAspect="1"/>
          </p:cNvPicPr>
          <p:nvPr/>
        </p:nvPicPr>
        <p:blipFill>
          <a:blip r:embed="rId14"/>
          <a:srcRect/>
          <a:stretch/>
        </p:blipFill>
        <p:spPr>
          <a:xfrm>
            <a:off x="1595319" y="3853542"/>
            <a:ext cx="477992" cy="597490"/>
          </a:xfrm>
          <a:prstGeom prst="rect">
            <a:avLst/>
          </a:prstGeom>
        </p:spPr>
      </p:pic>
      <p:pic>
        <p:nvPicPr>
          <p:cNvPr id="6" name="Graphic 5">
            <a:extLst>
              <a:ext uri="{FF2B5EF4-FFF2-40B4-BE49-F238E27FC236}">
                <a16:creationId xmlns:a16="http://schemas.microsoft.com/office/drawing/2014/main" id="{74E18C16-467B-C5D3-FF3E-66F26EB593DE}"/>
              </a:ext>
            </a:extLst>
          </p:cNvPr>
          <p:cNvPicPr>
            <a:picLocks noChangeAspect="1"/>
          </p:cNvPicPr>
          <p:nvPr/>
        </p:nvPicPr>
        <p:blipFill>
          <a:blip r:embed="rId15"/>
          <a:srcRect/>
          <a:stretch/>
        </p:blipFill>
        <p:spPr>
          <a:xfrm>
            <a:off x="2170005" y="976919"/>
            <a:ext cx="425491" cy="557281"/>
          </a:xfrm>
          <a:prstGeom prst="rect">
            <a:avLst/>
          </a:prstGeom>
        </p:spPr>
      </p:pic>
      <p:sp>
        <p:nvSpPr>
          <p:cNvPr id="4" name="TextBox 3">
            <a:extLst>
              <a:ext uri="{FF2B5EF4-FFF2-40B4-BE49-F238E27FC236}">
                <a16:creationId xmlns:a16="http://schemas.microsoft.com/office/drawing/2014/main" id="{F9D4AFD1-35D7-CA58-504A-1BD6D47B2EF7}"/>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Projects</a:t>
            </a:r>
          </a:p>
        </p:txBody>
      </p:sp>
      <p:pic>
        <p:nvPicPr>
          <p:cNvPr id="29" name="Picture 28">
            <a:extLst>
              <a:ext uri="{FF2B5EF4-FFF2-40B4-BE49-F238E27FC236}">
                <a16:creationId xmlns:a16="http://schemas.microsoft.com/office/drawing/2014/main" id="{D0105668-28FB-F685-5A08-6D4DD2D41AD3}"/>
              </a:ext>
            </a:extLst>
          </p:cNvPr>
          <p:cNvPicPr>
            <a:picLocks noChangeAspect="1"/>
          </p:cNvPicPr>
          <p:nvPr/>
        </p:nvPicPr>
        <p:blipFill>
          <a:blip r:embed="rId16"/>
          <a:stretch>
            <a:fillRect/>
          </a:stretch>
        </p:blipFill>
        <p:spPr>
          <a:xfrm>
            <a:off x="8383029" y="1688670"/>
            <a:ext cx="408297" cy="646039"/>
          </a:xfrm>
          <a:prstGeom prst="rect">
            <a:avLst/>
          </a:prstGeom>
        </p:spPr>
      </p:pic>
    </p:spTree>
    <p:extLst>
      <p:ext uri="{BB962C8B-B14F-4D97-AF65-F5344CB8AC3E}">
        <p14:creationId xmlns:p14="http://schemas.microsoft.com/office/powerpoint/2010/main" val="17078656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253BA9-604F-3FF8-C697-5AEF7B55C31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9A23C9-6354-EF30-F65F-6A11EC076896}"/>
              </a:ext>
            </a:extLst>
          </p:cNvPr>
          <p:cNvSpPr/>
          <p:nvPr/>
        </p:nvSpPr>
        <p:spPr>
          <a:xfrm>
            <a:off x="253218" y="488514"/>
            <a:ext cx="11633982" cy="6087649"/>
          </a:xfrm>
          <a:prstGeom prst="rect">
            <a:avLst/>
          </a:prstGeom>
          <a:solidFill>
            <a:schemeClr val="tx2">
              <a:lumMod val="10000"/>
              <a:lumOff val="9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7A5A870-1660-026A-3C3E-6A7E20C376B3}"/>
              </a:ext>
            </a:extLst>
          </p:cNvPr>
          <p:cNvSpPr/>
          <p:nvPr/>
        </p:nvSpPr>
        <p:spPr>
          <a:xfrm>
            <a:off x="253218" y="1115773"/>
            <a:ext cx="11633982" cy="339043"/>
          </a:xfrm>
          <a:prstGeom prst="rect">
            <a:avLst/>
          </a:prstGeom>
          <a:gradFill>
            <a:gsLst>
              <a:gs pos="80000">
                <a:srgbClr val="C3DCF3"/>
              </a:gs>
              <a:gs pos="19000">
                <a:srgbClr val="C4DCF3"/>
              </a:gs>
              <a:gs pos="0">
                <a:srgbClr val="F6FBFF"/>
              </a:gs>
              <a:gs pos="51000">
                <a:schemeClr val="tx2">
                  <a:lumMod val="25000"/>
                  <a:lumOff val="75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361EB30E-C23F-E5A8-C256-6077E5AF9C85}"/>
              </a:ext>
            </a:extLst>
          </p:cNvPr>
          <p:cNvSpPr/>
          <p:nvPr/>
        </p:nvSpPr>
        <p:spPr>
          <a:xfrm>
            <a:off x="253218" y="2713664"/>
            <a:ext cx="11633982" cy="339043"/>
          </a:xfrm>
          <a:prstGeom prst="rect">
            <a:avLst/>
          </a:prstGeom>
          <a:gradFill>
            <a:gsLst>
              <a:gs pos="76000">
                <a:srgbClr val="85B6E5"/>
              </a:gs>
              <a:gs pos="22000">
                <a:srgbClr val="8DBBE7"/>
              </a:gs>
              <a:gs pos="0">
                <a:srgbClr val="F6FBFF"/>
              </a:gs>
              <a:gs pos="51000">
                <a:schemeClr val="tx2">
                  <a:lumMod val="50000"/>
                  <a:lumOff val="50000"/>
                </a:schemeClr>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905DA83-BC66-611E-BB32-97753BF74C9D}"/>
              </a:ext>
            </a:extLst>
          </p:cNvPr>
          <p:cNvSpPr txBox="1"/>
          <p:nvPr/>
        </p:nvSpPr>
        <p:spPr>
          <a:xfrm>
            <a:off x="4361863" y="594363"/>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Members</a:t>
            </a:r>
          </a:p>
        </p:txBody>
      </p:sp>
      <p:sp>
        <p:nvSpPr>
          <p:cNvPr id="58" name="Rectangle 57">
            <a:extLst>
              <a:ext uri="{FF2B5EF4-FFF2-40B4-BE49-F238E27FC236}">
                <a16:creationId xmlns:a16="http://schemas.microsoft.com/office/drawing/2014/main" id="{822F7ACB-4EC4-330F-62AA-7F8C07255DD3}"/>
              </a:ext>
            </a:extLst>
          </p:cNvPr>
          <p:cNvSpPr/>
          <p:nvPr/>
        </p:nvSpPr>
        <p:spPr>
          <a:xfrm>
            <a:off x="245464" y="5361529"/>
            <a:ext cx="11633982" cy="339043"/>
          </a:xfrm>
          <a:prstGeom prst="rect">
            <a:avLst/>
          </a:prstGeom>
          <a:gradFill>
            <a:gsLst>
              <a:gs pos="0">
                <a:srgbClr val="F6FBFF"/>
              </a:gs>
              <a:gs pos="79000">
                <a:srgbClr val="7B93AA"/>
              </a:gs>
              <a:gs pos="21000">
                <a:srgbClr val="7B93AA"/>
              </a:gs>
              <a:gs pos="51000">
                <a:srgbClr val="163E64"/>
              </a:gs>
              <a:gs pos="100000">
                <a:srgbClr val="F6FBFF"/>
              </a:gs>
            </a:gsLst>
            <a:lin ang="2155275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6AE36AE-3555-CBCE-D697-72836633809A}"/>
              </a:ext>
            </a:extLst>
          </p:cNvPr>
          <p:cNvSpPr txBox="1"/>
          <p:nvPr/>
        </p:nvSpPr>
        <p:spPr>
          <a:xfrm>
            <a:off x="4361862" y="1100905"/>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Premier Members</a:t>
            </a:r>
          </a:p>
        </p:txBody>
      </p:sp>
      <p:sp>
        <p:nvSpPr>
          <p:cNvPr id="39" name="TextBox 38">
            <a:extLst>
              <a:ext uri="{FF2B5EF4-FFF2-40B4-BE49-F238E27FC236}">
                <a16:creationId xmlns:a16="http://schemas.microsoft.com/office/drawing/2014/main" id="{567F6794-0B05-8CB3-BB13-389AE72A8D61}"/>
              </a:ext>
            </a:extLst>
          </p:cNvPr>
          <p:cNvSpPr txBox="1"/>
          <p:nvPr/>
        </p:nvSpPr>
        <p:spPr>
          <a:xfrm>
            <a:off x="4361861" y="2708686"/>
            <a:ext cx="3468273" cy="369332"/>
          </a:xfrm>
          <a:prstGeom prst="rect">
            <a:avLst/>
          </a:prstGeom>
          <a:noFill/>
        </p:spPr>
        <p:txBody>
          <a:bodyPr wrap="square">
            <a:spAutoFit/>
          </a:bodyPr>
          <a:lstStyle/>
          <a:p>
            <a:pPr algn="ctr">
              <a:buNone/>
            </a:pPr>
            <a:r>
              <a:rPr lang="en-US" b="1" dirty="0">
                <a:effectLst/>
                <a:latin typeface="Aptos" panose="020B0004020202020204" pitchFamily="34" charset="0"/>
              </a:rPr>
              <a:t>General Members</a:t>
            </a:r>
          </a:p>
        </p:txBody>
      </p:sp>
      <p:sp>
        <p:nvSpPr>
          <p:cNvPr id="6" name="TextBox 5">
            <a:extLst>
              <a:ext uri="{FF2B5EF4-FFF2-40B4-BE49-F238E27FC236}">
                <a16:creationId xmlns:a16="http://schemas.microsoft.com/office/drawing/2014/main" id="{C340B828-7A3B-C524-8A71-F04357D823A0}"/>
              </a:ext>
            </a:extLst>
          </p:cNvPr>
          <p:cNvSpPr txBox="1"/>
          <p:nvPr/>
        </p:nvSpPr>
        <p:spPr>
          <a:xfrm>
            <a:off x="4361861" y="5349068"/>
            <a:ext cx="3468273" cy="369332"/>
          </a:xfrm>
          <a:prstGeom prst="rect">
            <a:avLst/>
          </a:prstGeom>
          <a:noFill/>
        </p:spPr>
        <p:txBody>
          <a:bodyPr wrap="square">
            <a:spAutoFit/>
          </a:bodyPr>
          <a:lstStyle/>
          <a:p>
            <a:pPr algn="ctr">
              <a:buNone/>
            </a:pPr>
            <a:r>
              <a:rPr lang="en-US" b="1" dirty="0">
                <a:solidFill>
                  <a:schemeClr val="bg1">
                    <a:lumMod val="95000"/>
                  </a:schemeClr>
                </a:solidFill>
                <a:effectLst/>
                <a:latin typeface="Aptos" panose="020B0004020202020204" pitchFamily="34" charset="0"/>
              </a:rPr>
              <a:t>Associate Members</a:t>
            </a:r>
          </a:p>
        </p:txBody>
      </p:sp>
      <p:pic>
        <p:nvPicPr>
          <p:cNvPr id="7" name="Graphic 6">
            <a:extLst>
              <a:ext uri="{FF2B5EF4-FFF2-40B4-BE49-F238E27FC236}">
                <a16:creationId xmlns:a16="http://schemas.microsoft.com/office/drawing/2014/main" id="{27C42294-75CA-ACF3-9B4C-BBD004C7B674}"/>
              </a:ext>
            </a:extLst>
          </p:cNvPr>
          <p:cNvPicPr>
            <a:picLocks noChangeAspect="1"/>
          </p:cNvPicPr>
          <p:nvPr/>
        </p:nvPicPr>
        <p:blipFill>
          <a:blip r:embed="rId3"/>
          <a:srcRect/>
          <a:stretch/>
        </p:blipFill>
        <p:spPr>
          <a:xfrm>
            <a:off x="4158876" y="1926586"/>
            <a:ext cx="847404" cy="418572"/>
          </a:xfrm>
          <a:prstGeom prst="rect">
            <a:avLst/>
          </a:prstGeom>
        </p:spPr>
      </p:pic>
      <p:pic>
        <p:nvPicPr>
          <p:cNvPr id="9" name="Graphic 8">
            <a:extLst>
              <a:ext uri="{FF2B5EF4-FFF2-40B4-BE49-F238E27FC236}">
                <a16:creationId xmlns:a16="http://schemas.microsoft.com/office/drawing/2014/main" id="{D443124C-666F-94A2-D54D-B94B82C38F6E}"/>
              </a:ext>
            </a:extLst>
          </p:cNvPr>
          <p:cNvPicPr>
            <a:picLocks noChangeAspect="1"/>
          </p:cNvPicPr>
          <p:nvPr/>
        </p:nvPicPr>
        <p:blipFill>
          <a:blip r:embed="rId4"/>
          <a:srcRect/>
          <a:stretch/>
        </p:blipFill>
        <p:spPr>
          <a:xfrm>
            <a:off x="5677360" y="1788477"/>
            <a:ext cx="1873130" cy="634748"/>
          </a:xfrm>
          <a:prstGeom prst="rect">
            <a:avLst/>
          </a:prstGeom>
        </p:spPr>
      </p:pic>
      <p:pic>
        <p:nvPicPr>
          <p:cNvPr id="12" name="Graphic 11">
            <a:extLst>
              <a:ext uri="{FF2B5EF4-FFF2-40B4-BE49-F238E27FC236}">
                <a16:creationId xmlns:a16="http://schemas.microsoft.com/office/drawing/2014/main" id="{DBC0358E-1A7A-9D84-29B9-39B47AD6E59B}"/>
              </a:ext>
            </a:extLst>
          </p:cNvPr>
          <p:cNvPicPr>
            <a:picLocks noChangeAspect="1"/>
          </p:cNvPicPr>
          <p:nvPr/>
        </p:nvPicPr>
        <p:blipFill>
          <a:blip r:embed="rId5"/>
          <a:srcRect/>
          <a:stretch/>
        </p:blipFill>
        <p:spPr>
          <a:xfrm>
            <a:off x="8200925" y="1918546"/>
            <a:ext cx="1994175" cy="443150"/>
          </a:xfrm>
          <a:prstGeom prst="rect">
            <a:avLst/>
          </a:prstGeom>
        </p:spPr>
      </p:pic>
      <p:pic>
        <p:nvPicPr>
          <p:cNvPr id="18" name="Graphic 17">
            <a:extLst>
              <a:ext uri="{FF2B5EF4-FFF2-40B4-BE49-F238E27FC236}">
                <a16:creationId xmlns:a16="http://schemas.microsoft.com/office/drawing/2014/main" id="{7FB9B600-0A3E-412E-6C37-B877F718C116}"/>
              </a:ext>
            </a:extLst>
          </p:cNvPr>
          <p:cNvPicPr>
            <a:picLocks noChangeAspect="1"/>
          </p:cNvPicPr>
          <p:nvPr/>
        </p:nvPicPr>
        <p:blipFill>
          <a:blip r:embed="rId6"/>
          <a:srcRect/>
          <a:stretch/>
        </p:blipFill>
        <p:spPr>
          <a:xfrm>
            <a:off x="2225891" y="1838072"/>
            <a:ext cx="1259122" cy="581133"/>
          </a:xfrm>
          <a:prstGeom prst="rect">
            <a:avLst/>
          </a:prstGeom>
        </p:spPr>
      </p:pic>
      <p:pic>
        <p:nvPicPr>
          <p:cNvPr id="21" name="Graphic 20">
            <a:extLst>
              <a:ext uri="{FF2B5EF4-FFF2-40B4-BE49-F238E27FC236}">
                <a16:creationId xmlns:a16="http://schemas.microsoft.com/office/drawing/2014/main" id="{C0D70158-30AF-3998-F001-DD446A5378FD}"/>
              </a:ext>
            </a:extLst>
          </p:cNvPr>
          <p:cNvPicPr>
            <a:picLocks noChangeAspect="1"/>
          </p:cNvPicPr>
          <p:nvPr/>
        </p:nvPicPr>
        <p:blipFill>
          <a:blip r:embed="rId7"/>
          <a:srcRect/>
          <a:stretch/>
        </p:blipFill>
        <p:spPr>
          <a:xfrm>
            <a:off x="1093192" y="3439502"/>
            <a:ext cx="1704985" cy="365592"/>
          </a:xfrm>
          <a:prstGeom prst="rect">
            <a:avLst/>
          </a:prstGeom>
        </p:spPr>
      </p:pic>
      <p:pic>
        <p:nvPicPr>
          <p:cNvPr id="23" name="Graphic 22">
            <a:extLst>
              <a:ext uri="{FF2B5EF4-FFF2-40B4-BE49-F238E27FC236}">
                <a16:creationId xmlns:a16="http://schemas.microsoft.com/office/drawing/2014/main" id="{5DBC520C-5093-FFED-4EB2-6B654D4E804E}"/>
              </a:ext>
            </a:extLst>
          </p:cNvPr>
          <p:cNvPicPr>
            <a:picLocks noChangeAspect="1"/>
          </p:cNvPicPr>
          <p:nvPr/>
        </p:nvPicPr>
        <p:blipFill>
          <a:blip r:embed="rId8"/>
          <a:srcRect/>
          <a:stretch/>
        </p:blipFill>
        <p:spPr>
          <a:xfrm>
            <a:off x="7215444" y="3443946"/>
            <a:ext cx="1546066" cy="349641"/>
          </a:xfrm>
          <a:prstGeom prst="rect">
            <a:avLst/>
          </a:prstGeom>
        </p:spPr>
      </p:pic>
      <p:pic>
        <p:nvPicPr>
          <p:cNvPr id="27" name="Graphic 26">
            <a:extLst>
              <a:ext uri="{FF2B5EF4-FFF2-40B4-BE49-F238E27FC236}">
                <a16:creationId xmlns:a16="http://schemas.microsoft.com/office/drawing/2014/main" id="{93EC5106-C13E-1A97-D0E9-7DF45F9A631D}"/>
              </a:ext>
            </a:extLst>
          </p:cNvPr>
          <p:cNvPicPr>
            <a:picLocks noChangeAspect="1"/>
          </p:cNvPicPr>
          <p:nvPr/>
        </p:nvPicPr>
        <p:blipFill>
          <a:blip r:embed="rId9"/>
          <a:srcRect/>
          <a:stretch/>
        </p:blipFill>
        <p:spPr>
          <a:xfrm>
            <a:off x="9393817" y="3449011"/>
            <a:ext cx="1148586" cy="344576"/>
          </a:xfrm>
          <a:prstGeom prst="rect">
            <a:avLst/>
          </a:prstGeom>
        </p:spPr>
      </p:pic>
      <p:pic>
        <p:nvPicPr>
          <p:cNvPr id="34" name="Graphic 33">
            <a:extLst>
              <a:ext uri="{FF2B5EF4-FFF2-40B4-BE49-F238E27FC236}">
                <a16:creationId xmlns:a16="http://schemas.microsoft.com/office/drawing/2014/main" id="{CBF6991F-5648-44F1-DC25-D6E77ACBF125}"/>
              </a:ext>
            </a:extLst>
          </p:cNvPr>
          <p:cNvPicPr>
            <a:picLocks noChangeAspect="1"/>
          </p:cNvPicPr>
          <p:nvPr/>
        </p:nvPicPr>
        <p:blipFill>
          <a:blip r:embed="rId10"/>
          <a:srcRect/>
          <a:stretch/>
        </p:blipFill>
        <p:spPr>
          <a:xfrm>
            <a:off x="1335806" y="4072383"/>
            <a:ext cx="1516963" cy="362641"/>
          </a:xfrm>
          <a:prstGeom prst="rect">
            <a:avLst/>
          </a:prstGeom>
        </p:spPr>
      </p:pic>
      <p:pic>
        <p:nvPicPr>
          <p:cNvPr id="36" name="Graphic 35">
            <a:extLst>
              <a:ext uri="{FF2B5EF4-FFF2-40B4-BE49-F238E27FC236}">
                <a16:creationId xmlns:a16="http://schemas.microsoft.com/office/drawing/2014/main" id="{8D27CDC8-7DB5-9C69-39DD-03FD0A67ED47}"/>
              </a:ext>
            </a:extLst>
          </p:cNvPr>
          <p:cNvPicPr>
            <a:picLocks noChangeAspect="1"/>
          </p:cNvPicPr>
          <p:nvPr/>
        </p:nvPicPr>
        <p:blipFill>
          <a:blip r:embed="rId11"/>
          <a:srcRect/>
          <a:stretch/>
        </p:blipFill>
        <p:spPr>
          <a:xfrm>
            <a:off x="8371713" y="4691352"/>
            <a:ext cx="1344239" cy="422736"/>
          </a:xfrm>
          <a:prstGeom prst="rect">
            <a:avLst/>
          </a:prstGeom>
        </p:spPr>
      </p:pic>
      <p:pic>
        <p:nvPicPr>
          <p:cNvPr id="41" name="Graphic 40">
            <a:extLst>
              <a:ext uri="{FF2B5EF4-FFF2-40B4-BE49-F238E27FC236}">
                <a16:creationId xmlns:a16="http://schemas.microsoft.com/office/drawing/2014/main" id="{725FBF59-8C7E-39E5-3955-8E3A64498C5F}"/>
              </a:ext>
            </a:extLst>
          </p:cNvPr>
          <p:cNvPicPr>
            <a:picLocks noChangeAspect="1"/>
          </p:cNvPicPr>
          <p:nvPr/>
        </p:nvPicPr>
        <p:blipFill>
          <a:blip r:embed="rId12"/>
          <a:srcRect/>
          <a:stretch/>
        </p:blipFill>
        <p:spPr>
          <a:xfrm>
            <a:off x="7204735" y="4033258"/>
            <a:ext cx="1298831" cy="409156"/>
          </a:xfrm>
          <a:prstGeom prst="rect">
            <a:avLst/>
          </a:prstGeom>
        </p:spPr>
      </p:pic>
      <p:pic>
        <p:nvPicPr>
          <p:cNvPr id="43" name="Graphic 42">
            <a:extLst>
              <a:ext uri="{FF2B5EF4-FFF2-40B4-BE49-F238E27FC236}">
                <a16:creationId xmlns:a16="http://schemas.microsoft.com/office/drawing/2014/main" id="{BFC9F945-2928-BA76-669F-C6B73AAFD37C}"/>
              </a:ext>
            </a:extLst>
          </p:cNvPr>
          <p:cNvPicPr>
            <a:picLocks noChangeAspect="1"/>
          </p:cNvPicPr>
          <p:nvPr/>
        </p:nvPicPr>
        <p:blipFill>
          <a:blip r:embed="rId13"/>
          <a:srcRect/>
          <a:stretch/>
        </p:blipFill>
        <p:spPr>
          <a:xfrm>
            <a:off x="5322474" y="4096342"/>
            <a:ext cx="1549180" cy="334822"/>
          </a:xfrm>
          <a:prstGeom prst="rect">
            <a:avLst/>
          </a:prstGeom>
        </p:spPr>
      </p:pic>
      <p:pic>
        <p:nvPicPr>
          <p:cNvPr id="46" name="Graphic 45">
            <a:extLst>
              <a:ext uri="{FF2B5EF4-FFF2-40B4-BE49-F238E27FC236}">
                <a16:creationId xmlns:a16="http://schemas.microsoft.com/office/drawing/2014/main" id="{795A591D-C397-42DE-A6C3-60460AD1EE4D}"/>
              </a:ext>
            </a:extLst>
          </p:cNvPr>
          <p:cNvPicPr>
            <a:picLocks noChangeAspect="1"/>
          </p:cNvPicPr>
          <p:nvPr/>
        </p:nvPicPr>
        <p:blipFill>
          <a:blip r:embed="rId14"/>
          <a:srcRect/>
          <a:stretch/>
        </p:blipFill>
        <p:spPr>
          <a:xfrm>
            <a:off x="1788351" y="4637405"/>
            <a:ext cx="1329805" cy="600404"/>
          </a:xfrm>
          <a:prstGeom prst="rect">
            <a:avLst/>
          </a:prstGeom>
        </p:spPr>
      </p:pic>
      <p:pic>
        <p:nvPicPr>
          <p:cNvPr id="48" name="Graphic 47">
            <a:extLst>
              <a:ext uri="{FF2B5EF4-FFF2-40B4-BE49-F238E27FC236}">
                <a16:creationId xmlns:a16="http://schemas.microsoft.com/office/drawing/2014/main" id="{F07B402E-4891-B673-5FAD-B981AE6EB865}"/>
              </a:ext>
            </a:extLst>
          </p:cNvPr>
          <p:cNvPicPr>
            <a:picLocks noChangeAspect="1"/>
          </p:cNvPicPr>
          <p:nvPr/>
        </p:nvPicPr>
        <p:blipFill>
          <a:blip r:embed="rId15"/>
          <a:srcRect/>
          <a:stretch/>
        </p:blipFill>
        <p:spPr>
          <a:xfrm>
            <a:off x="3161814" y="3492701"/>
            <a:ext cx="1817383" cy="253740"/>
          </a:xfrm>
          <a:prstGeom prst="rect">
            <a:avLst/>
          </a:prstGeom>
        </p:spPr>
      </p:pic>
      <p:pic>
        <p:nvPicPr>
          <p:cNvPr id="51" name="Graphic 50">
            <a:extLst>
              <a:ext uri="{FF2B5EF4-FFF2-40B4-BE49-F238E27FC236}">
                <a16:creationId xmlns:a16="http://schemas.microsoft.com/office/drawing/2014/main" id="{628947EE-53F1-E6DE-10F7-8A05BEAA6FCC}"/>
              </a:ext>
            </a:extLst>
          </p:cNvPr>
          <p:cNvPicPr>
            <a:picLocks noChangeAspect="1"/>
          </p:cNvPicPr>
          <p:nvPr/>
        </p:nvPicPr>
        <p:blipFill>
          <a:blip r:embed="rId16"/>
          <a:srcRect/>
          <a:stretch/>
        </p:blipFill>
        <p:spPr>
          <a:xfrm>
            <a:off x="5628102" y="4777564"/>
            <a:ext cx="1329805" cy="305362"/>
          </a:xfrm>
          <a:prstGeom prst="rect">
            <a:avLst/>
          </a:prstGeom>
        </p:spPr>
      </p:pic>
      <p:pic>
        <p:nvPicPr>
          <p:cNvPr id="53" name="Graphic 52">
            <a:extLst>
              <a:ext uri="{FF2B5EF4-FFF2-40B4-BE49-F238E27FC236}">
                <a16:creationId xmlns:a16="http://schemas.microsoft.com/office/drawing/2014/main" id="{D9207E64-95E2-307E-93A7-5C58CF6818FB}"/>
              </a:ext>
            </a:extLst>
          </p:cNvPr>
          <p:cNvPicPr>
            <a:picLocks noChangeAspect="1"/>
          </p:cNvPicPr>
          <p:nvPr/>
        </p:nvPicPr>
        <p:blipFill>
          <a:blip r:embed="rId17"/>
          <a:srcRect/>
          <a:stretch/>
        </p:blipFill>
        <p:spPr>
          <a:xfrm>
            <a:off x="3439590" y="4801240"/>
            <a:ext cx="1807172" cy="318164"/>
          </a:xfrm>
          <a:prstGeom prst="rect">
            <a:avLst/>
          </a:prstGeom>
        </p:spPr>
      </p:pic>
      <p:pic>
        <p:nvPicPr>
          <p:cNvPr id="61" name="Graphic 60">
            <a:extLst>
              <a:ext uri="{FF2B5EF4-FFF2-40B4-BE49-F238E27FC236}">
                <a16:creationId xmlns:a16="http://schemas.microsoft.com/office/drawing/2014/main" id="{8B766B83-552F-94D0-E29D-94F855A6E565}"/>
              </a:ext>
            </a:extLst>
          </p:cNvPr>
          <p:cNvPicPr>
            <a:picLocks noChangeAspect="1"/>
          </p:cNvPicPr>
          <p:nvPr/>
        </p:nvPicPr>
        <p:blipFill>
          <a:blip r:embed="rId18"/>
          <a:srcRect/>
          <a:stretch/>
        </p:blipFill>
        <p:spPr>
          <a:xfrm>
            <a:off x="7133594" y="6057243"/>
            <a:ext cx="1363467" cy="277315"/>
          </a:xfrm>
          <a:prstGeom prst="rect">
            <a:avLst/>
          </a:prstGeom>
        </p:spPr>
      </p:pic>
      <p:pic>
        <p:nvPicPr>
          <p:cNvPr id="64" name="Graphic 63">
            <a:extLst>
              <a:ext uri="{FF2B5EF4-FFF2-40B4-BE49-F238E27FC236}">
                <a16:creationId xmlns:a16="http://schemas.microsoft.com/office/drawing/2014/main" id="{38F0FFB7-73D1-77EE-804D-AE42A8D3BEEF}"/>
              </a:ext>
            </a:extLst>
          </p:cNvPr>
          <p:cNvPicPr>
            <a:picLocks noChangeAspect="1"/>
          </p:cNvPicPr>
          <p:nvPr/>
        </p:nvPicPr>
        <p:blipFill>
          <a:blip r:embed="rId19"/>
          <a:srcRect/>
          <a:stretch/>
        </p:blipFill>
        <p:spPr>
          <a:xfrm>
            <a:off x="5581174" y="6035450"/>
            <a:ext cx="1039270" cy="328836"/>
          </a:xfrm>
          <a:prstGeom prst="rect">
            <a:avLst/>
          </a:prstGeom>
        </p:spPr>
      </p:pic>
      <p:pic>
        <p:nvPicPr>
          <p:cNvPr id="67" name="Graphic 66">
            <a:extLst>
              <a:ext uri="{FF2B5EF4-FFF2-40B4-BE49-F238E27FC236}">
                <a16:creationId xmlns:a16="http://schemas.microsoft.com/office/drawing/2014/main" id="{4F84346C-38EE-3D1A-E30F-29272E12BDF2}"/>
              </a:ext>
            </a:extLst>
          </p:cNvPr>
          <p:cNvPicPr>
            <a:picLocks noChangeAspect="1"/>
          </p:cNvPicPr>
          <p:nvPr/>
        </p:nvPicPr>
        <p:blipFill>
          <a:blip r:embed="rId20"/>
          <a:srcRect/>
          <a:stretch/>
        </p:blipFill>
        <p:spPr>
          <a:xfrm>
            <a:off x="3771082" y="6019858"/>
            <a:ext cx="1280852" cy="358773"/>
          </a:xfrm>
          <a:prstGeom prst="rect">
            <a:avLst/>
          </a:prstGeom>
        </p:spPr>
      </p:pic>
      <p:pic>
        <p:nvPicPr>
          <p:cNvPr id="4" name="Graphic 3">
            <a:extLst>
              <a:ext uri="{FF2B5EF4-FFF2-40B4-BE49-F238E27FC236}">
                <a16:creationId xmlns:a16="http://schemas.microsoft.com/office/drawing/2014/main" id="{98E9F0BF-932E-6534-D878-24FE815CC46E}"/>
              </a:ext>
            </a:extLst>
          </p:cNvPr>
          <p:cNvPicPr>
            <a:picLocks noChangeAspect="1"/>
          </p:cNvPicPr>
          <p:nvPr/>
        </p:nvPicPr>
        <p:blipFill>
          <a:blip r:embed="rId21"/>
          <a:srcRect/>
          <a:stretch/>
        </p:blipFill>
        <p:spPr>
          <a:xfrm>
            <a:off x="5388430" y="3477247"/>
            <a:ext cx="1415134" cy="283770"/>
          </a:xfrm>
          <a:prstGeom prst="rect">
            <a:avLst/>
          </a:prstGeom>
        </p:spPr>
      </p:pic>
      <p:pic>
        <p:nvPicPr>
          <p:cNvPr id="5" name="Picture 4">
            <a:extLst>
              <a:ext uri="{FF2B5EF4-FFF2-40B4-BE49-F238E27FC236}">
                <a16:creationId xmlns:a16="http://schemas.microsoft.com/office/drawing/2014/main" id="{C60FA2A3-0EC0-1200-9D29-481A31A9EB84}"/>
              </a:ext>
            </a:extLst>
          </p:cNvPr>
          <p:cNvPicPr>
            <a:picLocks noChangeAspect="1"/>
          </p:cNvPicPr>
          <p:nvPr/>
        </p:nvPicPr>
        <p:blipFill>
          <a:blip r:embed="rId22"/>
          <a:stretch>
            <a:fillRect/>
          </a:stretch>
        </p:blipFill>
        <p:spPr>
          <a:xfrm>
            <a:off x="3380223" y="4113625"/>
            <a:ext cx="1516170" cy="285347"/>
          </a:xfrm>
          <a:prstGeom prst="rect">
            <a:avLst/>
          </a:prstGeom>
        </p:spPr>
      </p:pic>
      <p:pic>
        <p:nvPicPr>
          <p:cNvPr id="8" name="Picture 7">
            <a:extLst>
              <a:ext uri="{FF2B5EF4-FFF2-40B4-BE49-F238E27FC236}">
                <a16:creationId xmlns:a16="http://schemas.microsoft.com/office/drawing/2014/main" id="{FFC216AA-C81C-2911-59DE-3307F26AD7B1}"/>
              </a:ext>
            </a:extLst>
          </p:cNvPr>
          <p:cNvPicPr>
            <a:picLocks noChangeAspect="1"/>
          </p:cNvPicPr>
          <p:nvPr/>
        </p:nvPicPr>
        <p:blipFill>
          <a:blip r:embed="rId23"/>
          <a:stretch>
            <a:fillRect/>
          </a:stretch>
        </p:blipFill>
        <p:spPr>
          <a:xfrm>
            <a:off x="7406803" y="4747739"/>
            <a:ext cx="509380" cy="324151"/>
          </a:xfrm>
          <a:prstGeom prst="rect">
            <a:avLst/>
          </a:prstGeom>
        </p:spPr>
      </p:pic>
      <p:pic>
        <p:nvPicPr>
          <p:cNvPr id="3" name="Picture 2">
            <a:extLst>
              <a:ext uri="{FF2B5EF4-FFF2-40B4-BE49-F238E27FC236}">
                <a16:creationId xmlns:a16="http://schemas.microsoft.com/office/drawing/2014/main" id="{AA59B301-6A68-2D87-3402-0FCB75389035}"/>
              </a:ext>
            </a:extLst>
          </p:cNvPr>
          <p:cNvPicPr>
            <a:picLocks noChangeAspect="1"/>
          </p:cNvPicPr>
          <p:nvPr/>
        </p:nvPicPr>
        <p:blipFill>
          <a:blip r:embed="rId24"/>
          <a:stretch>
            <a:fillRect/>
          </a:stretch>
        </p:blipFill>
        <p:spPr>
          <a:xfrm>
            <a:off x="8905554" y="4129819"/>
            <a:ext cx="1303057" cy="242247"/>
          </a:xfrm>
          <a:prstGeom prst="rect">
            <a:avLst/>
          </a:prstGeom>
        </p:spPr>
      </p:pic>
    </p:spTree>
    <p:extLst>
      <p:ext uri="{BB962C8B-B14F-4D97-AF65-F5344CB8AC3E}">
        <p14:creationId xmlns:p14="http://schemas.microsoft.com/office/powerpoint/2010/main" val="340354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ounded Rectangle 28">
            <a:extLst>
              <a:ext uri="{FF2B5EF4-FFF2-40B4-BE49-F238E27FC236}">
                <a16:creationId xmlns:a16="http://schemas.microsoft.com/office/drawing/2014/main" id="{418E899A-0EC7-1A7A-BE8E-98B0D1848A21}"/>
              </a:ext>
            </a:extLst>
          </p:cNvPr>
          <p:cNvSpPr/>
          <p:nvPr/>
        </p:nvSpPr>
        <p:spPr>
          <a:xfrm>
            <a:off x="202474" y="3325385"/>
            <a:ext cx="4572698" cy="2630226"/>
          </a:xfrm>
          <a:prstGeom prst="roundRect">
            <a:avLst>
              <a:gd name="adj" fmla="val 1577"/>
            </a:avLst>
          </a:prstGeom>
          <a:gradFill>
            <a:gsLst>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FF109452-562D-591A-7E53-D24D9077C92F}"/>
              </a:ext>
            </a:extLst>
          </p:cNvPr>
          <p:cNvSpPr/>
          <p:nvPr/>
        </p:nvSpPr>
        <p:spPr>
          <a:xfrm>
            <a:off x="5011732" y="3328146"/>
            <a:ext cx="3377888" cy="2878186"/>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450F9970-BF84-5F24-9286-8C474C48773D}"/>
              </a:ext>
            </a:extLst>
          </p:cNvPr>
          <p:cNvSpPr/>
          <p:nvPr/>
        </p:nvSpPr>
        <p:spPr>
          <a:xfrm>
            <a:off x="8608230" y="3328146"/>
            <a:ext cx="3377888" cy="923337"/>
          </a:xfrm>
          <a:prstGeom prst="roundRect">
            <a:avLst>
              <a:gd name="adj" fmla="val 1602"/>
            </a:avLst>
          </a:prstGeom>
          <a:gradFill>
            <a:gsLst>
              <a:gs pos="86000">
                <a:srgbClr val="DDEBF8"/>
              </a:gs>
              <a:gs pos="0">
                <a:srgbClr val="DDEBF8"/>
              </a:gs>
              <a:gs pos="100000">
                <a:srgbClr val="CFE3F5"/>
              </a:gs>
              <a:gs pos="100000">
                <a:srgbClr val="A6CAED"/>
              </a:gs>
            </a:gsLst>
            <a:lin ang="5400000" scaled="1"/>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9C72C0D-EC04-F8C5-A35B-9FEEE4C943A1}"/>
              </a:ext>
            </a:extLst>
          </p:cNvPr>
          <p:cNvSpPr/>
          <p:nvPr/>
        </p:nvSpPr>
        <p:spPr>
          <a:xfrm>
            <a:off x="4289705" y="793141"/>
            <a:ext cx="3619504" cy="1976683"/>
          </a:xfrm>
          <a:prstGeom prst="roundRect">
            <a:avLst>
              <a:gd name="adj" fmla="val 185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16F164B3-C8F9-1172-137E-DEFE9F81FEEE}"/>
              </a:ext>
            </a:extLst>
          </p:cNvPr>
          <p:cNvSpPr/>
          <p:nvPr/>
        </p:nvSpPr>
        <p:spPr>
          <a:xfrm>
            <a:off x="268800" y="5531538"/>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5C5E1C97-6034-1A12-FCB2-ABCEFA5724F1}"/>
              </a:ext>
            </a:extLst>
          </p:cNvPr>
          <p:cNvSpPr/>
          <p:nvPr/>
        </p:nvSpPr>
        <p:spPr>
          <a:xfrm>
            <a:off x="1172953"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45A25E4C-180D-9359-8BD1-0146580E7261}"/>
              </a:ext>
            </a:extLst>
          </p:cNvPr>
          <p:cNvSpPr/>
          <p:nvPr/>
        </p:nvSpPr>
        <p:spPr>
          <a:xfrm>
            <a:off x="2077106" y="5531537"/>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FB6030BE-BE73-3821-D4E6-7421CDD85D37}"/>
              </a:ext>
            </a:extLst>
          </p:cNvPr>
          <p:cNvSpPr/>
          <p:nvPr/>
        </p:nvSpPr>
        <p:spPr>
          <a:xfrm>
            <a:off x="2981259"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4EB9E516-F79A-4402-A437-ADB08131129C}"/>
              </a:ext>
            </a:extLst>
          </p:cNvPr>
          <p:cNvSpPr/>
          <p:nvPr/>
        </p:nvSpPr>
        <p:spPr>
          <a:xfrm>
            <a:off x="3885412" y="5531536"/>
            <a:ext cx="831084" cy="1116814"/>
          </a:xfrm>
          <a:prstGeom prst="roundRect">
            <a:avLst>
              <a:gd name="adj" fmla="val 4046"/>
            </a:avLst>
          </a:prstGeom>
          <a:solidFill>
            <a:srgbClr val="DDEB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5D5B1AA5-7E59-7738-9E29-73359B137F98}"/>
              </a:ext>
            </a:extLst>
          </p:cNvPr>
          <p:cNvSpPr/>
          <p:nvPr/>
        </p:nvSpPr>
        <p:spPr>
          <a:xfrm>
            <a:off x="316299" y="5876548"/>
            <a:ext cx="4348943" cy="659568"/>
          </a:xfrm>
          <a:prstGeom prst="roundRect">
            <a:avLst>
              <a:gd name="adj" fmla="val 6003"/>
            </a:avLst>
          </a:prstGeom>
          <a:solidFill>
            <a:srgbClr val="163E64">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Developer Communities</a:t>
            </a:r>
          </a:p>
        </p:txBody>
      </p:sp>
      <p:sp>
        <p:nvSpPr>
          <p:cNvPr id="4" name="Rounded Rectangle 3">
            <a:extLst>
              <a:ext uri="{FF2B5EF4-FFF2-40B4-BE49-F238E27FC236}">
                <a16:creationId xmlns:a16="http://schemas.microsoft.com/office/drawing/2014/main" id="{AA5CE0AF-35CB-50E0-97DF-81943C30D33C}"/>
              </a:ext>
            </a:extLst>
          </p:cNvPr>
          <p:cNvSpPr/>
          <p:nvPr/>
        </p:nvSpPr>
        <p:spPr>
          <a:xfrm>
            <a:off x="4362156" y="863328"/>
            <a:ext cx="3467687" cy="659568"/>
          </a:xfrm>
          <a:prstGeom prst="roundRect">
            <a:avLst>
              <a:gd name="adj" fmla="val 6003"/>
            </a:avLst>
          </a:prstGeom>
          <a:solidFill>
            <a:srgbClr val="4F95D9">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Governing Board (GB)</a:t>
            </a:r>
          </a:p>
        </p:txBody>
      </p:sp>
      <p:sp>
        <p:nvSpPr>
          <p:cNvPr id="6" name="TextBox 5">
            <a:extLst>
              <a:ext uri="{FF2B5EF4-FFF2-40B4-BE49-F238E27FC236}">
                <a16:creationId xmlns:a16="http://schemas.microsoft.com/office/drawing/2014/main" id="{98A435DD-08A4-82F9-7ADB-45DAD3524671}"/>
              </a:ext>
            </a:extLst>
          </p:cNvPr>
          <p:cNvSpPr txBox="1"/>
          <p:nvPr/>
        </p:nvSpPr>
        <p:spPr>
          <a:xfrm>
            <a:off x="4362156" y="1541750"/>
            <a:ext cx="34676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Strategy &amp; Priorities</a:t>
            </a:r>
          </a:p>
          <a:p>
            <a:pPr marL="285750" indent="-285750">
              <a:buFont typeface="Arial" panose="020B0604020202020204" pitchFamily="34" charset="0"/>
              <a:buChar char="•"/>
            </a:pPr>
            <a:r>
              <a:rPr lang="en-US" dirty="0"/>
              <a:t>Budget</a:t>
            </a:r>
          </a:p>
          <a:p>
            <a:pPr marL="285750" indent="-285750">
              <a:buFont typeface="Arial" panose="020B0604020202020204" pitchFamily="34" charset="0"/>
              <a:buChar char="•"/>
            </a:pPr>
            <a:r>
              <a:rPr lang="en-US" dirty="0"/>
              <a:t>Marketing Strategy &amp; Events</a:t>
            </a:r>
          </a:p>
          <a:p>
            <a:pPr marL="285750" indent="-285750">
              <a:buFont typeface="Arial" panose="020B0604020202020204" pitchFamily="34" charset="0"/>
              <a:buChar char="•"/>
            </a:pPr>
            <a:r>
              <a:rPr lang="en-US" dirty="0"/>
              <a:t>Legal &amp; overall governance</a:t>
            </a:r>
          </a:p>
        </p:txBody>
      </p:sp>
      <p:sp>
        <p:nvSpPr>
          <p:cNvPr id="7" name="TextBox 6">
            <a:extLst>
              <a:ext uri="{FF2B5EF4-FFF2-40B4-BE49-F238E27FC236}">
                <a16:creationId xmlns:a16="http://schemas.microsoft.com/office/drawing/2014/main" id="{506C3CCC-F98D-24F0-BADC-24D731BA641F}"/>
              </a:ext>
            </a:extLst>
          </p:cNvPr>
          <p:cNvSpPr txBox="1"/>
          <p:nvPr/>
        </p:nvSpPr>
        <p:spPr>
          <a:xfrm>
            <a:off x="316299" y="4175007"/>
            <a:ext cx="434894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Cross-project collaboration</a:t>
            </a:r>
          </a:p>
          <a:p>
            <a:pPr marL="285750" indent="-285750">
              <a:buFont typeface="Arial" panose="020B0604020202020204" pitchFamily="34" charset="0"/>
              <a:buChar char="•"/>
            </a:pPr>
            <a:r>
              <a:rPr lang="en-US" dirty="0"/>
              <a:t>Project Lifecycle</a:t>
            </a:r>
          </a:p>
          <a:p>
            <a:pPr marL="285750" indent="-285750">
              <a:buFont typeface="Arial" panose="020B0604020202020204" pitchFamily="34" charset="0"/>
              <a:buChar char="•"/>
            </a:pPr>
            <a:r>
              <a:rPr lang="en-US" dirty="0"/>
              <a:t>Management</a:t>
            </a:r>
          </a:p>
          <a:p>
            <a:pPr marL="285750" indent="-285750">
              <a:buFont typeface="Arial" panose="020B0604020202020204" pitchFamily="34" charset="0"/>
              <a:buChar char="•"/>
            </a:pPr>
            <a:r>
              <a:rPr lang="en-US" dirty="0"/>
              <a:t>Developer Voice to GB</a:t>
            </a:r>
          </a:p>
        </p:txBody>
      </p:sp>
      <p:sp>
        <p:nvSpPr>
          <p:cNvPr id="8" name="TextBox 7">
            <a:extLst>
              <a:ext uri="{FF2B5EF4-FFF2-40B4-BE49-F238E27FC236}">
                <a16:creationId xmlns:a16="http://schemas.microsoft.com/office/drawing/2014/main" id="{691BE8AC-BC2F-8C62-D78F-60F57C8DA9F7}"/>
              </a:ext>
            </a:extLst>
          </p:cNvPr>
          <p:cNvSpPr txBox="1"/>
          <p:nvPr/>
        </p:nvSpPr>
        <p:spPr>
          <a:xfrm>
            <a:off x="5144238" y="4175007"/>
            <a:ext cx="311905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Annual Marketing Plan</a:t>
            </a:r>
          </a:p>
          <a:p>
            <a:pPr marL="285750" indent="-285750">
              <a:buFont typeface="Arial" panose="020B0604020202020204" pitchFamily="34" charset="0"/>
              <a:buChar char="•"/>
            </a:pPr>
            <a:r>
              <a:rPr lang="en-US" dirty="0"/>
              <a:t>PR &amp; Social Media</a:t>
            </a:r>
          </a:p>
          <a:p>
            <a:pPr marL="285750" indent="-285750">
              <a:buFont typeface="Arial" panose="020B0604020202020204" pitchFamily="34" charset="0"/>
              <a:buChar char="•"/>
            </a:pPr>
            <a:r>
              <a:rPr lang="en-US" dirty="0"/>
              <a:t>Events</a:t>
            </a:r>
          </a:p>
          <a:p>
            <a:pPr marL="285750" indent="-285750">
              <a:buFont typeface="Arial" panose="020B0604020202020204" pitchFamily="34" charset="0"/>
              <a:buChar char="•"/>
            </a:pPr>
            <a:r>
              <a:rPr lang="en-US" dirty="0"/>
              <a:t>Content/Web</a:t>
            </a:r>
          </a:p>
          <a:p>
            <a:pPr marL="285750" indent="-285750">
              <a:buFont typeface="Arial" panose="020B0604020202020204" pitchFamily="34" charset="0"/>
              <a:buChar char="•"/>
            </a:pPr>
            <a:r>
              <a:rPr lang="en-US" dirty="0"/>
              <a:t>Branding</a:t>
            </a:r>
          </a:p>
          <a:p>
            <a:pPr marL="285750" indent="-285750">
              <a:buFont typeface="Arial" panose="020B0604020202020204" pitchFamily="34" charset="0"/>
              <a:buChar char="•"/>
            </a:pPr>
            <a:r>
              <a:rPr lang="en-US" dirty="0"/>
              <a:t>Market Development</a:t>
            </a:r>
          </a:p>
          <a:p>
            <a:pPr marL="285750" indent="-285750">
              <a:buFont typeface="Arial" panose="020B0604020202020204" pitchFamily="34" charset="0"/>
              <a:buChar char="•"/>
            </a:pPr>
            <a:r>
              <a:rPr lang="en-US" dirty="0"/>
              <a:t>Ambassadors</a:t>
            </a:r>
          </a:p>
        </p:txBody>
      </p:sp>
      <p:sp>
        <p:nvSpPr>
          <p:cNvPr id="9" name="TextBox 8">
            <a:extLst>
              <a:ext uri="{FF2B5EF4-FFF2-40B4-BE49-F238E27FC236}">
                <a16:creationId xmlns:a16="http://schemas.microsoft.com/office/drawing/2014/main" id="{233B6290-A5E4-0234-827C-E79723E8C10E}"/>
              </a:ext>
            </a:extLst>
          </p:cNvPr>
          <p:cNvSpPr txBox="1"/>
          <p:nvPr/>
        </p:nvSpPr>
        <p:spPr>
          <a:xfrm>
            <a:off x="268800" y="5561926"/>
            <a:ext cx="831084" cy="276999"/>
          </a:xfrm>
          <a:prstGeom prst="rect">
            <a:avLst/>
          </a:prstGeom>
          <a:noFill/>
        </p:spPr>
        <p:txBody>
          <a:bodyPr wrap="square" rtlCol="0">
            <a:spAutoFit/>
          </a:bodyPr>
          <a:lstStyle/>
          <a:p>
            <a:pPr algn="ctr"/>
            <a:r>
              <a:rPr lang="en-US" sz="1200" dirty="0"/>
              <a:t>Gardener</a:t>
            </a:r>
          </a:p>
        </p:txBody>
      </p:sp>
      <p:sp>
        <p:nvSpPr>
          <p:cNvPr id="17" name="TextBox 16">
            <a:extLst>
              <a:ext uri="{FF2B5EF4-FFF2-40B4-BE49-F238E27FC236}">
                <a16:creationId xmlns:a16="http://schemas.microsoft.com/office/drawing/2014/main" id="{BFA922A8-FFCD-091B-F1AD-3F7BD826FBCA}"/>
              </a:ext>
            </a:extLst>
          </p:cNvPr>
          <p:cNvSpPr txBox="1"/>
          <p:nvPr/>
        </p:nvSpPr>
        <p:spPr>
          <a:xfrm>
            <a:off x="1172183" y="5561926"/>
            <a:ext cx="831084" cy="276999"/>
          </a:xfrm>
          <a:prstGeom prst="rect">
            <a:avLst/>
          </a:prstGeom>
          <a:noFill/>
        </p:spPr>
        <p:txBody>
          <a:bodyPr wrap="square" rtlCol="0">
            <a:spAutoFit/>
          </a:bodyPr>
          <a:lstStyle/>
          <a:p>
            <a:pPr algn="ctr"/>
            <a:r>
              <a:rPr lang="en-US" sz="1200" dirty="0" err="1"/>
              <a:t>IronCore</a:t>
            </a:r>
            <a:endParaRPr lang="en-US" sz="1200" dirty="0"/>
          </a:p>
        </p:txBody>
      </p:sp>
      <p:sp>
        <p:nvSpPr>
          <p:cNvPr id="19" name="TextBox 18">
            <a:extLst>
              <a:ext uri="{FF2B5EF4-FFF2-40B4-BE49-F238E27FC236}">
                <a16:creationId xmlns:a16="http://schemas.microsoft.com/office/drawing/2014/main" id="{00AD1526-7530-BA07-06EB-2E8C6978A088}"/>
              </a:ext>
            </a:extLst>
          </p:cNvPr>
          <p:cNvSpPr txBox="1"/>
          <p:nvPr/>
        </p:nvSpPr>
        <p:spPr>
          <a:xfrm>
            <a:off x="2075566" y="5561926"/>
            <a:ext cx="831084" cy="276999"/>
          </a:xfrm>
          <a:prstGeom prst="rect">
            <a:avLst/>
          </a:prstGeom>
          <a:noFill/>
        </p:spPr>
        <p:txBody>
          <a:bodyPr wrap="square" rtlCol="0">
            <a:spAutoFit/>
          </a:bodyPr>
          <a:lstStyle/>
          <a:p>
            <a:pPr algn="ctr"/>
            <a:r>
              <a:rPr lang="en-US" sz="1200" dirty="0" err="1"/>
              <a:t>Katalis</a:t>
            </a:r>
            <a:endParaRPr lang="en-US" sz="1200" dirty="0"/>
          </a:p>
        </p:txBody>
      </p:sp>
      <p:sp>
        <p:nvSpPr>
          <p:cNvPr id="20" name="TextBox 19">
            <a:extLst>
              <a:ext uri="{FF2B5EF4-FFF2-40B4-BE49-F238E27FC236}">
                <a16:creationId xmlns:a16="http://schemas.microsoft.com/office/drawing/2014/main" id="{F71C3435-DBF5-792E-AF95-94348728D4FC}"/>
              </a:ext>
            </a:extLst>
          </p:cNvPr>
          <p:cNvSpPr txBox="1"/>
          <p:nvPr/>
        </p:nvSpPr>
        <p:spPr>
          <a:xfrm>
            <a:off x="2945898" y="5561926"/>
            <a:ext cx="904110" cy="276999"/>
          </a:xfrm>
          <a:prstGeom prst="rect">
            <a:avLst/>
          </a:prstGeom>
          <a:noFill/>
        </p:spPr>
        <p:txBody>
          <a:bodyPr wrap="square" rtlCol="0">
            <a:spAutoFit/>
          </a:bodyPr>
          <a:lstStyle/>
          <a:p>
            <a:pPr algn="ctr"/>
            <a:r>
              <a:rPr lang="en-US" sz="1200" dirty="0" err="1"/>
              <a:t>CobalCore</a:t>
            </a:r>
            <a:endParaRPr lang="en-US" sz="1200" dirty="0"/>
          </a:p>
        </p:txBody>
      </p:sp>
      <p:sp>
        <p:nvSpPr>
          <p:cNvPr id="21" name="TextBox 20">
            <a:extLst>
              <a:ext uri="{FF2B5EF4-FFF2-40B4-BE49-F238E27FC236}">
                <a16:creationId xmlns:a16="http://schemas.microsoft.com/office/drawing/2014/main" id="{9EDC215D-4D32-F7EE-99B5-FE8A47048C3E}"/>
              </a:ext>
            </a:extLst>
          </p:cNvPr>
          <p:cNvSpPr txBox="1"/>
          <p:nvPr/>
        </p:nvSpPr>
        <p:spPr>
          <a:xfrm>
            <a:off x="3882332" y="5561926"/>
            <a:ext cx="831084" cy="276999"/>
          </a:xfrm>
          <a:prstGeom prst="rect">
            <a:avLst/>
          </a:prstGeom>
          <a:noFill/>
        </p:spPr>
        <p:txBody>
          <a:bodyPr wrap="square" rtlCol="0">
            <a:spAutoFit/>
          </a:bodyPr>
          <a:lstStyle/>
          <a:p>
            <a:pPr algn="ctr"/>
            <a:r>
              <a:rPr lang="en-US" sz="1200" dirty="0"/>
              <a:t>etc.</a:t>
            </a:r>
          </a:p>
        </p:txBody>
      </p:sp>
      <p:sp>
        <p:nvSpPr>
          <p:cNvPr id="3" name="Shape 4">
            <a:extLst>
              <a:ext uri="{FF2B5EF4-FFF2-40B4-BE49-F238E27FC236}">
                <a16:creationId xmlns:a16="http://schemas.microsoft.com/office/drawing/2014/main" id="{F3C0E0C3-6479-E65C-043E-C86B05613932}"/>
              </a:ext>
            </a:extLst>
          </p:cNvPr>
          <p:cNvSpPr/>
          <p:nvPr/>
        </p:nvSpPr>
        <p:spPr>
          <a:xfrm>
            <a:off x="6102355" y="2773714"/>
            <a:ext cx="0" cy="365760"/>
          </a:xfrm>
          <a:prstGeom prst="line">
            <a:avLst/>
          </a:prstGeom>
          <a:noFill/>
          <a:ln w="25400">
            <a:solidFill>
              <a:srgbClr val="163E64"/>
            </a:solidFill>
            <a:prstDash val="solid"/>
          </a:ln>
        </p:spPr>
        <p:txBody>
          <a:bodyPr/>
          <a:lstStyle/>
          <a:p>
            <a:endParaRPr lang="de-DE"/>
          </a:p>
        </p:txBody>
      </p:sp>
      <p:sp>
        <p:nvSpPr>
          <p:cNvPr id="5" name="Shape 5">
            <a:extLst>
              <a:ext uri="{FF2B5EF4-FFF2-40B4-BE49-F238E27FC236}">
                <a16:creationId xmlns:a16="http://schemas.microsoft.com/office/drawing/2014/main" id="{00792AF2-ACC7-4CB0-CA0E-E2FDD267CF4E}"/>
              </a:ext>
            </a:extLst>
          </p:cNvPr>
          <p:cNvSpPr/>
          <p:nvPr/>
        </p:nvSpPr>
        <p:spPr>
          <a:xfrm flipV="1">
            <a:off x="2478534" y="3148070"/>
            <a:ext cx="7824865" cy="0"/>
          </a:xfrm>
          <a:prstGeom prst="line">
            <a:avLst/>
          </a:prstGeom>
          <a:noFill/>
          <a:ln w="25400">
            <a:solidFill>
              <a:srgbClr val="163E64"/>
            </a:solidFill>
            <a:prstDash val="solid"/>
          </a:ln>
        </p:spPr>
        <p:txBody>
          <a:bodyPr/>
          <a:lstStyle/>
          <a:p>
            <a:endParaRPr lang="de-DE"/>
          </a:p>
        </p:txBody>
      </p:sp>
      <p:sp>
        <p:nvSpPr>
          <p:cNvPr id="2" name="TextBox 1">
            <a:extLst>
              <a:ext uri="{FF2B5EF4-FFF2-40B4-BE49-F238E27FC236}">
                <a16:creationId xmlns:a16="http://schemas.microsoft.com/office/drawing/2014/main" id="{EF6FD379-81D4-1845-888A-A6AB15D9E38E}"/>
              </a:ext>
            </a:extLst>
          </p:cNvPr>
          <p:cNvSpPr txBox="1"/>
          <p:nvPr/>
        </p:nvSpPr>
        <p:spPr>
          <a:xfrm>
            <a:off x="4361863" y="317206"/>
            <a:ext cx="3468273" cy="400110"/>
          </a:xfrm>
          <a:prstGeom prst="rect">
            <a:avLst/>
          </a:prstGeom>
          <a:noFill/>
        </p:spPr>
        <p:txBody>
          <a:bodyPr wrap="square">
            <a:spAutoFit/>
          </a:bodyPr>
          <a:lstStyle/>
          <a:p>
            <a:pPr algn="ctr">
              <a:buNone/>
            </a:pPr>
            <a:r>
              <a:rPr lang="en-US" sz="2000" b="1" dirty="0">
                <a:effectLst/>
                <a:latin typeface="Aptos" panose="020B0004020202020204" pitchFamily="34" charset="0"/>
              </a:rPr>
              <a:t>Governance</a:t>
            </a:r>
          </a:p>
        </p:txBody>
      </p:sp>
      <p:sp>
        <p:nvSpPr>
          <p:cNvPr id="23" name="Shape 6">
            <a:extLst>
              <a:ext uri="{FF2B5EF4-FFF2-40B4-BE49-F238E27FC236}">
                <a16:creationId xmlns:a16="http://schemas.microsoft.com/office/drawing/2014/main" id="{9E36B7D1-E710-55C5-A393-D3979A81B008}"/>
              </a:ext>
            </a:extLst>
          </p:cNvPr>
          <p:cNvSpPr/>
          <p:nvPr/>
        </p:nvSpPr>
        <p:spPr>
          <a:xfrm>
            <a:off x="2478534" y="3139474"/>
            <a:ext cx="0" cy="320040"/>
          </a:xfrm>
          <a:prstGeom prst="line">
            <a:avLst/>
          </a:prstGeom>
          <a:noFill/>
          <a:ln w="25400">
            <a:solidFill>
              <a:srgbClr val="163E64"/>
            </a:solidFill>
            <a:prstDash val="solid"/>
          </a:ln>
        </p:spPr>
        <p:txBody>
          <a:bodyPr/>
          <a:lstStyle/>
          <a:p>
            <a:endParaRPr lang="de-DE"/>
          </a:p>
        </p:txBody>
      </p:sp>
      <p:sp>
        <p:nvSpPr>
          <p:cNvPr id="24" name="Shape 8">
            <a:extLst>
              <a:ext uri="{FF2B5EF4-FFF2-40B4-BE49-F238E27FC236}">
                <a16:creationId xmlns:a16="http://schemas.microsoft.com/office/drawing/2014/main" id="{C4B4D48F-4463-93BF-71A9-603D8E1F3572}"/>
              </a:ext>
            </a:extLst>
          </p:cNvPr>
          <p:cNvSpPr/>
          <p:nvPr/>
        </p:nvSpPr>
        <p:spPr>
          <a:xfrm>
            <a:off x="6699269" y="3148070"/>
            <a:ext cx="0" cy="311444"/>
          </a:xfrm>
          <a:prstGeom prst="line">
            <a:avLst/>
          </a:prstGeom>
          <a:noFill/>
          <a:ln w="25400">
            <a:solidFill>
              <a:srgbClr val="163E64"/>
            </a:solidFill>
            <a:prstDash val="solid"/>
          </a:ln>
        </p:spPr>
        <p:txBody>
          <a:bodyPr/>
          <a:lstStyle/>
          <a:p>
            <a:endParaRPr lang="de-DE"/>
          </a:p>
        </p:txBody>
      </p:sp>
      <p:sp>
        <p:nvSpPr>
          <p:cNvPr id="16" name="Rounded Rectangle 15">
            <a:extLst>
              <a:ext uri="{FF2B5EF4-FFF2-40B4-BE49-F238E27FC236}">
                <a16:creationId xmlns:a16="http://schemas.microsoft.com/office/drawing/2014/main" id="{23B67136-3923-7A95-489B-689239F2E01C}"/>
              </a:ext>
            </a:extLst>
          </p:cNvPr>
          <p:cNvSpPr/>
          <p:nvPr/>
        </p:nvSpPr>
        <p:spPr>
          <a:xfrm>
            <a:off x="318652" y="3450238"/>
            <a:ext cx="4348943" cy="659568"/>
          </a:xfrm>
          <a:prstGeom prst="roundRect">
            <a:avLst>
              <a:gd name="adj" fmla="val 6003"/>
            </a:avLst>
          </a:prstGeom>
          <a:solidFill>
            <a:srgbClr val="A6C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Technical Advisory Council (TAC)</a:t>
            </a:r>
          </a:p>
        </p:txBody>
      </p:sp>
      <p:sp>
        <p:nvSpPr>
          <p:cNvPr id="18" name="Rounded Rectangle 17">
            <a:extLst>
              <a:ext uri="{FF2B5EF4-FFF2-40B4-BE49-F238E27FC236}">
                <a16:creationId xmlns:a16="http://schemas.microsoft.com/office/drawing/2014/main" id="{3509664A-8B76-2153-43F7-DF856E4FBEB0}"/>
              </a:ext>
            </a:extLst>
          </p:cNvPr>
          <p:cNvSpPr/>
          <p:nvPr/>
        </p:nvSpPr>
        <p:spPr>
          <a:xfrm>
            <a:off x="5144238"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Outreach Committee</a:t>
            </a:r>
          </a:p>
        </p:txBody>
      </p:sp>
      <p:sp>
        <p:nvSpPr>
          <p:cNvPr id="30" name="Rounded Rectangle 29">
            <a:extLst>
              <a:ext uri="{FF2B5EF4-FFF2-40B4-BE49-F238E27FC236}">
                <a16:creationId xmlns:a16="http://schemas.microsoft.com/office/drawing/2014/main" id="{63917B4C-C824-48D7-6174-C7A2E1EC0093}"/>
              </a:ext>
            </a:extLst>
          </p:cNvPr>
          <p:cNvSpPr/>
          <p:nvPr/>
        </p:nvSpPr>
        <p:spPr>
          <a:xfrm>
            <a:off x="8740736" y="3450238"/>
            <a:ext cx="3119052" cy="659568"/>
          </a:xfrm>
          <a:prstGeom prst="roundRect">
            <a:avLst>
              <a:gd name="adj" fmla="val 6003"/>
            </a:avLst>
          </a:prstGeom>
          <a:solidFill>
            <a:srgbClr val="A6CAED">
              <a:alpha val="908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Other Committees</a:t>
            </a:r>
          </a:p>
        </p:txBody>
      </p:sp>
      <p:sp>
        <p:nvSpPr>
          <p:cNvPr id="31" name="Shape 8">
            <a:extLst>
              <a:ext uri="{FF2B5EF4-FFF2-40B4-BE49-F238E27FC236}">
                <a16:creationId xmlns:a16="http://schemas.microsoft.com/office/drawing/2014/main" id="{20B839C0-6E97-35CF-4DF2-0E30DD888C65}"/>
              </a:ext>
            </a:extLst>
          </p:cNvPr>
          <p:cNvSpPr/>
          <p:nvPr/>
        </p:nvSpPr>
        <p:spPr>
          <a:xfrm>
            <a:off x="10303399" y="3148070"/>
            <a:ext cx="0" cy="311444"/>
          </a:xfrm>
          <a:prstGeom prst="line">
            <a:avLst/>
          </a:prstGeom>
          <a:noFill/>
          <a:ln w="25400">
            <a:solidFill>
              <a:srgbClr val="163E64"/>
            </a:solidFill>
            <a:prstDash val="solid"/>
          </a:ln>
        </p:spPr>
        <p:txBody>
          <a:bodyPr/>
          <a:lstStyle/>
          <a:p>
            <a:endParaRPr lang="de-DE"/>
          </a:p>
        </p:txBody>
      </p:sp>
    </p:spTree>
    <p:extLst>
      <p:ext uri="{BB962C8B-B14F-4D97-AF65-F5344CB8AC3E}">
        <p14:creationId xmlns:p14="http://schemas.microsoft.com/office/powerpoint/2010/main" val="12649315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656CF82-CDA9-764D-2982-60BE7E9803F5}"/>
            </a:ext>
          </a:extLst>
        </p:cNvPr>
        <p:cNvGrpSpPr/>
        <p:nvPr/>
      </p:nvGrpSpPr>
      <p:grpSpPr>
        <a:xfrm>
          <a:off x="0" y="0"/>
          <a:ext cx="0" cy="0"/>
          <a:chOff x="0" y="0"/>
          <a:chExt cx="0" cy="0"/>
        </a:xfrm>
      </p:grpSpPr>
      <p:pic>
        <p:nvPicPr>
          <p:cNvPr id="16" name="Graphic 15">
            <a:extLst>
              <a:ext uri="{FF2B5EF4-FFF2-40B4-BE49-F238E27FC236}">
                <a16:creationId xmlns:a16="http://schemas.microsoft.com/office/drawing/2014/main" id="{204DD346-B6E3-6C4B-3C5B-A21CF4D7A1DD}"/>
              </a:ext>
            </a:extLst>
          </p:cNvPr>
          <p:cNvPicPr>
            <a:picLocks noChangeAspect="1"/>
          </p:cNvPicPr>
          <p:nvPr/>
        </p:nvPicPr>
        <p:blipFill>
          <a:blip r:embed="rId2"/>
          <a:srcRect/>
          <a:stretch/>
        </p:blipFill>
        <p:spPr>
          <a:xfrm>
            <a:off x="3141817" y="4805747"/>
            <a:ext cx="5908363" cy="859631"/>
          </a:xfrm>
          <a:prstGeom prst="rect">
            <a:avLst/>
          </a:prstGeom>
        </p:spPr>
      </p:pic>
      <p:pic>
        <p:nvPicPr>
          <p:cNvPr id="17" name="Graphic 16">
            <a:extLst>
              <a:ext uri="{FF2B5EF4-FFF2-40B4-BE49-F238E27FC236}">
                <a16:creationId xmlns:a16="http://schemas.microsoft.com/office/drawing/2014/main" id="{703A6E16-32EA-5667-E7B2-631E8C508855}"/>
              </a:ext>
            </a:extLst>
          </p:cNvPr>
          <p:cNvPicPr>
            <a:picLocks noChangeAspect="1"/>
          </p:cNvPicPr>
          <p:nvPr/>
        </p:nvPicPr>
        <p:blipFill>
          <a:blip r:embed="rId3"/>
          <a:srcRect/>
          <a:stretch/>
        </p:blipFill>
        <p:spPr>
          <a:xfrm>
            <a:off x="10889178" y="4696332"/>
            <a:ext cx="1327536" cy="2186382"/>
          </a:xfrm>
          <a:prstGeom prst="rect">
            <a:avLst/>
          </a:prstGeom>
        </p:spPr>
      </p:pic>
      <p:pic>
        <p:nvPicPr>
          <p:cNvPr id="3" name="Picture 2" descr="A black background with white dots&#10;&#10;AI-generated content may be incorrect.">
            <a:extLst>
              <a:ext uri="{FF2B5EF4-FFF2-40B4-BE49-F238E27FC236}">
                <a16:creationId xmlns:a16="http://schemas.microsoft.com/office/drawing/2014/main" id="{B0AA8ADF-1436-9445-12D2-BAB9AC5EB062}"/>
              </a:ext>
            </a:extLst>
          </p:cNvPr>
          <p:cNvPicPr>
            <a:picLocks noChangeAspect="1"/>
          </p:cNvPicPr>
          <p:nvPr/>
        </p:nvPicPr>
        <p:blipFill>
          <a:blip r:embed="rId4"/>
          <a:stretch>
            <a:fillRect/>
          </a:stretch>
        </p:blipFill>
        <p:spPr>
          <a:xfrm>
            <a:off x="4479284" y="1349724"/>
            <a:ext cx="3233428" cy="3233428"/>
          </a:xfrm>
          <a:prstGeom prst="rect">
            <a:avLst/>
          </a:prstGeom>
        </p:spPr>
      </p:pic>
    </p:spTree>
    <p:extLst>
      <p:ext uri="{BB962C8B-B14F-4D97-AF65-F5344CB8AC3E}">
        <p14:creationId xmlns:p14="http://schemas.microsoft.com/office/powerpoint/2010/main" val="2134995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44530</TotalTime>
  <Words>325</Words>
  <Application>Microsoft Macintosh PowerPoint</Application>
  <PresentationFormat>Widescreen</PresentationFormat>
  <Paragraphs>75</Paragraphs>
  <Slides>11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 (Body)</vt:lpstr>
      <vt:lpstr>Aptos Display</vt:lpstr>
      <vt:lpstr>Aptos</vt:lpstr>
      <vt:lpstr>Arial</vt:lpstr>
      <vt:lpstr>Helvetica Neue</vt:lpstr>
      <vt:lpstr>Office Theme</vt:lpstr>
      <vt:lpstr>PowerPoint Presentation</vt:lpstr>
      <vt:lpstr>Antitrust Policy Notice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Helmke, Anna (external - Service)</cp:lastModifiedBy>
  <cp:revision>11</cp:revision>
  <dcterms:created xsi:type="dcterms:W3CDTF">2026-03-04T13:51:43Z</dcterms:created>
  <dcterms:modified xsi:type="dcterms:W3CDTF">2026-10-13T10:18:14Z</dcterms:modified>
</cp:coreProperties>
</file>